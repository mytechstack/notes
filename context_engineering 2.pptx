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explains context engineering from first principles, based on the Anthropic Engineering article.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fundamental primitive: LLMs are stateless. Every generation reads a fresh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N² attention cost is why context length cannot grow infinitely without performance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rot is empirically observed — it is structural, not a bug to be fixed with a better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layers all share the same window. Understanding their relative sizes is the first step to good context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engineering is a subset. Context engineering is the broader discipline required for multi-step agentic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elements compete for the same window. Engineering each one reduces waste.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JIT retrieval mirrors how humans use working memory: we look up what we need, when we need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Compaction is the primary tool for keeping long sessions healthy without losing critical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and sub-agents both solve the same problem: freeing the main context window from bearing all the information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unifying idea. All context engineering techniques are applications of this principle.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 context windows grow, context rot shifts rather than disappears. The skill of curating high-signal context remains central.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AI Agents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3337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0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First-Principles Explainer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Prithvi Rajasekaran · Ethan Dixon · Carly Ryan · Jeremy Hadfield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only sees what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show it.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memory.  No background reasoning.  No intuition built from experience.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33756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response is generated from a single, flat block of text — the context window.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knows about your task lives there, and only there.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640080"/>
            <a:ext cx="2011680" cy="1737360"/>
          </a:xfrm>
          <a:prstGeom prst="rect">
            <a:avLst/>
          </a:prstGeom>
          <a:solidFill>
            <a:srgbClr val="22223A"/>
          </a:solidFill>
          <a:ln w="12700">
            <a:solidFill>
              <a:srgbClr val="222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685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05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583680" y="14173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response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384048" cy="384048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Transformer Primitive — How Attention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Self-Attention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in the context window can "look at" every other token and decide how much weight to give it. This lets the model connect a pronoun on page 10 to the noun on page 1.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 tokens, the model must consider N² pairwise relationships. Double the context → quadruple the work. Model parameters are finite — more tokens means each one gets less attention.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3749040" cy="1737360"/>
          </a:xfrm>
          <a:prstGeom prst="rect">
            <a:avLst/>
          </a:prstGeom>
          <a:solidFill>
            <a:srgbClr val="E8E6F5"/>
          </a:solidFill>
          <a:ln w="12700">
            <a:solidFill>
              <a:srgbClr val="E8E6F5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tokens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325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N² relationships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attends to every other token.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788920"/>
            <a:ext cx="3749040" cy="1737360"/>
          </a:xfrm>
          <a:prstGeom prst="rect">
            <a:avLst/>
          </a:prstGeom>
          <a:solidFill>
            <a:srgbClr val="F5EDE8"/>
          </a:solidFill>
          <a:ln w="12700">
            <a:solidFill>
              <a:srgbClr val="F5EDE8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24612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not free storage. Every token added forces the model to spread limited attention across more relationships.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384048" cy="384048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Rot — Why Longer Is Not Better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context grows, model performance degrades — even when the needed information is present.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651760" cy="2560320"/>
          </a:xfrm>
          <a:prstGeom prst="rect">
            <a:avLst/>
          </a:prstGeom>
          <a:solidFill>
            <a:srgbClr val="EBEBF5"/>
          </a:solidFill>
          <a:ln w="12700">
            <a:solidFill>
              <a:srgbClr val="EBEBF5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91640"/>
            <a:ext cx="329184" cy="329184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1762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data scarcity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" y="26974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documents are rare in training data. The model has fewer learned patterns for navigating them.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508760"/>
            <a:ext cx="2651760" cy="2560320"/>
          </a:xfrm>
          <a:prstGeom prst="rect">
            <a:avLst/>
          </a:prstGeom>
          <a:solidFill>
            <a:srgbClr val="EBEBF5"/>
          </a:solidFill>
          <a:ln w="12700">
            <a:solidFill>
              <a:srgbClr val="EBEBF5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691640"/>
            <a:ext cx="329184" cy="329184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02152" y="21762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dilution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02152" y="26974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token's influence shrinks as more tokens compete for the model's finite attention budget.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508760"/>
            <a:ext cx="2651760" cy="2560320"/>
          </a:xfrm>
          <a:prstGeom prst="rect">
            <a:avLst/>
          </a:prstGeom>
          <a:solidFill>
            <a:srgbClr val="EBEBF5"/>
          </a:solidFill>
          <a:ln w="12700">
            <a:solidFill>
              <a:srgbClr val="EBEBF5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691640"/>
            <a:ext cx="329184" cy="329184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36792" y="21762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bias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36792" y="26974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weight tokens near the start and end more heavily than the middle — the "lost in the middle" problem.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0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solve a complex task by dumping all information into the window and hoping the model finds what it needs.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384048" cy="384048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Lives Inside the Context Window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sources compete for the same finite space at inference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331366" cy="475488"/>
          </a:xfrm>
          <a:prstGeom prst="rect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2399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84248"/>
            <a:ext cx="1152144" cy="475488"/>
          </a:xfrm>
          <a:prstGeom prst="rect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84248"/>
            <a:ext cx="1060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551176"/>
            <a:ext cx="1408176" cy="475488"/>
          </a:xfrm>
          <a:prstGeom prst="rect">
            <a:avLst/>
          </a:prstGeom>
          <a:solidFill>
            <a:srgbClr val="5A5A8A"/>
          </a:solidFill>
          <a:ln w="12700">
            <a:solidFill>
              <a:srgbClr val="5A5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51176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118104"/>
            <a:ext cx="1664208" cy="475488"/>
          </a:xfrm>
          <a:prstGeom prst="rect">
            <a:avLst/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18104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685032"/>
            <a:ext cx="972922" cy="475488"/>
          </a:xfrm>
          <a:prstGeom prst="rect">
            <a:avLst/>
          </a:prstGeom>
          <a:solidFill>
            <a:srgbClr val="AAAACC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85032"/>
            <a:ext cx="88148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141732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instructions, persona, constraints — always present.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1984248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of actions the model can invoke: search, code, file access.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2551176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rows, results fetched from external systems.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3118104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said and done so far — grows every turn.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0" y="3685032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demonstrations of correct behaviour.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added to one category crowds out another. Context engineering is about allocating that space optimally.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384048" cy="384048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 vs. Prompt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3840480" cy="3749040"/>
          </a:xfrm>
          <a:prstGeom prst="rect">
            <a:avLst/>
          </a:prstGeom>
          <a:solidFill>
            <a:srgbClr val="EBEBF5"/>
          </a:solidFill>
          <a:ln w="12700">
            <a:solidFill>
              <a:srgbClr val="EBEBF5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691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turn or instruction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500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23500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Wording, format, persona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00837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horizon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300837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66674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366674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clearly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3840480" cy="3749040"/>
          </a:xfrm>
          <a:prstGeom prst="rect">
            <a:avLst/>
          </a:prstGeom>
          <a:solidFill>
            <a:srgbClr val="F0EBE5"/>
          </a:solidFill>
          <a:ln w="12700">
            <a:solidFill>
              <a:srgbClr val="F0EBE5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914400"/>
            <a:ext cx="3840480" cy="658368"/>
          </a:xfrm>
          <a:prstGeom prst="rect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960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9632" y="1691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token stream across all turns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35000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9632" y="23500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 is present, when, how much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00837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horizon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9632" y="3008376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Multi-turn, long-horizon tasks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66674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9632" y="3666744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Curating, compressing, retrieving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384048" cy="384048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Building Blocks of a Context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977640" cy="1828800"/>
          </a:xfrm>
          <a:prstGeom prst="rect">
            <a:avLst/>
          </a:prstGeom>
          <a:solidFill>
            <a:srgbClr val="EBEBF5"/>
          </a:solidFill>
          <a:ln w="12700">
            <a:solidFill>
              <a:srgbClr val="EBEBF5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143000"/>
            <a:ext cx="329184" cy="329184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143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61288" y="11247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14904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0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Altitude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" y="185623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too rigid, not too vague. Calibrate like a job description, not a rulebook. Let the model's reasoning fill the gaps.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3977640" cy="1828800"/>
          </a:xfrm>
          <a:prstGeom prst="rect">
            <a:avLst/>
          </a:prstGeom>
          <a:solidFill>
            <a:srgbClr val="EBEBF5"/>
          </a:solidFill>
          <a:ln w="12700">
            <a:solidFill>
              <a:srgbClr val="EBEBF5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01768" y="1143000"/>
            <a:ext cx="329184" cy="329184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143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58968" y="11247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58968" y="14904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0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interfaces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01768" y="185623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Token-efficient returns. Non-overlapping purposes. Clear names. Tool design shapes agent behaviour.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971800"/>
            <a:ext cx="3977640" cy="1828800"/>
          </a:xfrm>
          <a:prstGeom prst="rect">
            <a:avLst/>
          </a:prstGeom>
          <a:solidFill>
            <a:srgbClr val="EBEBF5"/>
          </a:solidFill>
          <a:ln w="12700">
            <a:solidFill>
              <a:srgbClr val="EBEBF5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" y="3154680"/>
            <a:ext cx="329184" cy="329184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61288" y="31363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61288" y="35021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0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"Pictures worth a thousand words"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" y="386791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diverse, canonical examples outperform dozens of mediocre ones. Quality over exhaustiveness.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2971800"/>
            <a:ext cx="3977640" cy="1828800"/>
          </a:xfrm>
          <a:prstGeom prst="rect">
            <a:avLst/>
          </a:prstGeom>
          <a:solidFill>
            <a:srgbClr val="EBEBF5"/>
          </a:solidFill>
          <a:ln w="12700">
            <a:solidFill>
              <a:srgbClr val="EBEBF5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01768" y="3154680"/>
            <a:ext cx="329184" cy="329184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58968" y="31363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History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58968" y="35021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0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growing liability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01768" y="386791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history is noisy and expands every turn. Left unmanaged it becomes the primary source of context rot.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384048" cy="384048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Information In — Retrieval Strategies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3794760" cy="3291840"/>
          </a:xfrm>
          <a:prstGeom prst="rect">
            <a:avLst/>
          </a:prstGeom>
          <a:solidFill>
            <a:srgbClr val="DCDCE8"/>
          </a:solidFill>
          <a:ln w="12700">
            <a:solidFill>
              <a:srgbClr val="DCDCE8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14400"/>
            <a:ext cx="3794760" cy="502920"/>
          </a:xfrm>
          <a:prstGeom prst="rect">
            <a:avLst/>
          </a:prstGeom>
          <a:solidFill>
            <a:srgbClr val="888899"/>
          </a:solidFill>
          <a:ln w="12700">
            <a:solidFill>
              <a:srgbClr val="888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Naive: "Context Stuffing"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5361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Pre-load ALL potentially relevant data upfront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 cannot distinguish signal from noise in a large blob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7004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Context fills immediately — no room for reasoning steps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23697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Most pre-loaded facts are never needed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794760" cy="3291840"/>
          </a:xfrm>
          <a:prstGeom prst="rect">
            <a:avLst/>
          </a:prstGeom>
          <a:solidFill>
            <a:srgbClr val="EDF5ED"/>
          </a:solidFill>
          <a:ln w="12700">
            <a:solidFill>
              <a:srgbClr val="EDF5ED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14400"/>
            <a:ext cx="3794760" cy="502920"/>
          </a:xfrm>
          <a:prstGeom prst="rect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9601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Just-in-Time Retrieval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9472" y="1536192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Hold lightweight identifiers only at task start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210312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Load actual data at the moment it is needed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9472" y="267004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Stale or unneeded data is never loaded at all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9472" y="3236976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Mirrors how skilled humans use external memory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343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agents blend both: a small high-confidence pre-load + autonomous retrieval as the task evolves.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384048" cy="384048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Long-Horizon Tasks — Compaction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conversation history approaches the context limit, intelligently summarise rather than truncate.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06040" cy="2743200"/>
          </a:xfrm>
          <a:prstGeom prst="rect">
            <a:avLst/>
          </a:prstGeom>
          <a:solidFill>
            <a:srgbClr val="EBEBF5"/>
          </a:solidFill>
          <a:ln w="12700">
            <a:solidFill>
              <a:srgbClr val="EBEBF5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1627632"/>
            <a:ext cx="329184" cy="329184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20848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limit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" y="2578608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token count. Trigger compaction before hitting the ceiling.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606040" cy="2743200"/>
          </a:xfrm>
          <a:prstGeom prst="rect">
            <a:avLst/>
          </a:prstGeom>
          <a:solidFill>
            <a:srgbClr val="EBEBF5"/>
          </a:solidFill>
          <a:ln w="12700">
            <a:solidFill>
              <a:srgbClr val="EBEBF5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8728" y="1627632"/>
            <a:ext cx="329184" cy="329184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38728" y="20848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 history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38728" y="2578608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key decisions, unresolved issues, critical facts. Discard error traces, superseded plans, redundant confirmations.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2606040" cy="2743200"/>
          </a:xfrm>
          <a:prstGeom prst="rect">
            <a:avLst/>
          </a:prstGeom>
          <a:solidFill>
            <a:srgbClr val="EBEBF5"/>
          </a:solidFill>
          <a:ln w="12700">
            <a:solidFill>
              <a:srgbClr val="EBEBF5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3368" y="1627632"/>
            <a:ext cx="329184" cy="329184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3368" y="20848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&amp; continue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73368" y="2578608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compressed summary takes the place of raw history. The agent continues with a fresh working budget.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343400"/>
            <a:ext cx="8138160" cy="502920"/>
          </a:xfrm>
          <a:prstGeom prst="rect">
            <a:avLst/>
          </a:prstGeom>
          <a:solidFill>
            <a:srgbClr val="F5EDE8"/>
          </a:solidFill>
          <a:ln w="12700">
            <a:solidFill>
              <a:srgbClr val="F5EDE8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44074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tip: start optimised for high recall (include too much) then iteratively improve precision. Never lose a critical fact.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384048" cy="384048"/>
          </a:xfrm>
          <a:prstGeom prst="ellipse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Long-Horizon Tasks — Notes &amp; Sub-Agents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3794760" cy="3840480"/>
          </a:xfrm>
          <a:prstGeom prst="rect">
            <a:avLst/>
          </a:prstGeom>
          <a:solidFill>
            <a:srgbClr val="EBEBF5"/>
          </a:solidFill>
          <a:ln w="12700">
            <a:solidFill>
              <a:srgbClr val="EBEBF5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7899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Note-Taking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0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Memory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429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writes persistent notes to storage outside the context window and retrieves them selectively as needed.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long-term memory: the context window stays manageable; the agent's effective knowledge spans the full task.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Anthropic's Pokémon-playing agent maintained precise tallies across thousands of game steps using external notes.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794760" cy="3840480"/>
          </a:xfrm>
          <a:prstGeom prst="rect">
            <a:avLst/>
          </a:prstGeom>
          <a:solidFill>
            <a:srgbClr val="F0EBE5"/>
          </a:solidFill>
          <a:ln w="12700">
            <a:solidFill>
              <a:srgbClr val="F0EBE5"/>
            </a:solidFill>
            <a:prstDash val="solid"/>
          </a:ln>
          <a:effectLst>
            <a:outerShdw sx="100000" sy="100000" kx="0" ky="0" algn="bl" rotWithShape="0" blurRad="76200" dist="25400" dir="8100000">
              <a:srgbClr val="C8C8D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9472" y="1078992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Sub-Agent Architectures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19472" y="150876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0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874520"/>
            <a:ext cx="345643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coordinating main agent delegates focused subtasks to specialised sub-agents, each with a clean context window.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explore in depth, then return condensed summaries (1,000–2,000 tokens) upward.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D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cognitive modes: deep exploration (sub-agent) and high-level synthesis (main agent) — each at its natural level of abstraction.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Guiding Principle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2560320"/>
          </a:xfrm>
          <a:prstGeom prst="rect">
            <a:avLst/>
          </a:prstGeom>
          <a:solidFill>
            <a:srgbClr val="22223A"/>
          </a:solidFill>
          <a:ln w="12700">
            <a:solidFill>
              <a:srgbClr val="222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"Find the smallest set of high-signal tokens that maximise the likelihood of your desired outcome."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technique — right-altitude prompts, lean tools, curated examples, just-in-time retrieval, compaction, note-taking, sub-agents — is a different way of applying this single principle.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5A2C"/>
          </a:solidFill>
          <a:ln w="12700">
            <a:solidFill>
              <a:srgbClr val="C05A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 a finite, precious resource.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it like one.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8745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models improve, prescriptive engineering gives way to well-curated context. The engineer's job: make sure the right information is visible at the right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274320"/>
            <a:ext cx="3291840" cy="4572000"/>
          </a:xfrm>
          <a:prstGeom prst="rect">
            <a:avLst/>
          </a:prstGeom>
          <a:solidFill>
            <a:srgbClr val="22223A"/>
          </a:solidFill>
          <a:ln w="12700">
            <a:solidFill>
              <a:srgbClr val="222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0" y="4572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5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Checklist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0" y="960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System prompt at the right altitude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14447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Tools: minimal, non-overlapping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192938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Examples: diverse, not exhaustive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241401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History compacted before limits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289864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Durable facts offloaded externally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3383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Sub-agents for deep subtasks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38679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token earns its place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anthropic.com/engineering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2026-08-20T05:47:46Z</dcterms:created>
  <dcterms:modified xsi:type="dcterms:W3CDTF">2026-08-20T05:47:46Z</dcterms:modified>
</cp:coreProperties>
</file>