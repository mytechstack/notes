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7315200" cy="7315200"/>
          </a:xfrm>
          <a:prstGeom prst="ellipse">
            <a:avLst/>
          </a:prstGeom>
          <a:solidFill>
            <a:srgbClr val="00C9B1">
              <a:alpha val="6000"/>
            </a:srgbClr>
          </a:solidFill>
          <a:ln w="12700">
            <a:solidFill>
              <a:srgbClr val="00C9B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00C9B1">
              <a:alpha val="10000"/>
            </a:srgbClr>
          </a:solidFill>
          <a:ln w="12700">
            <a:solidFill>
              <a:srgbClr val="00C9B1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88720"/>
            <a:ext cx="2926080" cy="256032"/>
          </a:xfrm>
          <a:prstGeom prst="rect">
            <a:avLst/>
          </a:prstGeom>
          <a:solidFill>
            <a:srgbClr val="00C9B1">
              <a:alpha val="1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C9B1"/>
                </a:solidFill>
              </a:rPr>
              <a:t>SDLC TRANSFORMATION GUIDE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84048" y="1536192"/>
            <a:ext cx="7315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AI Changes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Way We Build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84048" y="3127248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84048" y="397764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requirements to release — AI doesn't replace your team.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removes the friction that slows them down.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52550"/>
          </a:solidFill>
          <a:ln w="12700">
            <a:solidFill>
              <a:srgbClr val="152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8899AA"/>
                </a:solidFill>
              </a:rPr>
              <a:t>6 PHASES  ·  REAL PROBLEMS  ·  HOW AI HELPS  ·  CONCRETE OUTCOMES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7315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IDEA: AI AS A THOUGHT PARTNER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doesn't automate your SDLC — it amplifies the humans in it.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of software delivery has bottlenecks: vague requirements, slow code reviews, missed edge cases, brittle deployments.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removes those friction points — so your team spends more time on the work that actually needs human judgment.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14884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48840"/>
            <a:ext cx="27432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38912" y="29077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Accelerate Thinking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8912" y="3310128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the first version so humans can focus on refining, not starting from blank.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72968" y="214884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2148840"/>
            <a:ext cx="27432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37560" y="29077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Surface What's Hidden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37560" y="3310128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 gaps, risks, and edge cases that experienced teams still miss under pressure.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71616" y="214884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2148840"/>
            <a:ext cx="27432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1616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36208" y="29077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Compress Feedback Loops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36208" y="3310128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tests, and diagnoses that took hours now take minutes — catching problems earlier.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The goal: fewer blockers, faster cycles, higher quality — with the same team.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" y="457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0C9B1">
                    <a:alpha val="18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64592" y="1051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&amp;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4592" y="15727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fuzzy ideas into clear, actionable work that the whole team agrees 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2231136"/>
            <a:ext cx="2606040" cy="27432"/>
          </a:xfrm>
          <a:prstGeom prst="rect">
            <a:avLst/>
          </a:prstGeom>
          <a:solidFill>
            <a:srgbClr val="00C9B1">
              <a:alpha val="45000"/>
            </a:srgbClr>
          </a:solidFill>
          <a:ln w="12700">
            <a:solidFill>
              <a:srgbClr val="00C9B1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2331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5C5C"/>
                </a:solidFill>
              </a:rPr>
              <a:t>WITHOUT AI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" y="259689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Hours spent turning vague briefs into stories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" y="2980944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Requirements gaps caught too late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" y="3364992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one spots risks until mid-sprint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2112" y="109728"/>
            <a:ext cx="57150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09728"/>
            <a:ext cx="5715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20116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9B1"/>
                </a:solidFill>
              </a:rPr>
              <a:t>HOW AI HELPS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46704" y="557784"/>
            <a:ext cx="201168" cy="201168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557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9B1"/>
                </a:solidFill>
              </a:rPr>
              <a:t>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21024" y="5120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rough feature idea into structured user stories with acceptance criteria in seconds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46704" y="987552"/>
            <a:ext cx="201168" cy="201168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987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9B1"/>
                </a:solidFill>
              </a:rPr>
              <a:t>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21024" y="9418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clarifying questions to catch ambiguity before work begins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46704" y="1417320"/>
            <a:ext cx="201168" cy="201168"/>
          </a:xfrm>
          <a:prstGeom prst="ellipse">
            <a:avLst/>
          </a:prstGeom>
          <a:solidFill>
            <a:srgbClr val="00C9B1">
              <a:alpha val="2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6704" y="1417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9B1"/>
                </a:solidFill>
              </a:rPr>
              <a:t>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21024" y="13716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scope and flags timeline risks, compliance gaps, and hidden dependencies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82112" y="2231136"/>
            <a:ext cx="5715000" cy="777240"/>
          </a:xfrm>
          <a:prstGeom prst="rect">
            <a:avLst/>
          </a:prstGeom>
          <a:solidFill>
            <a:srgbClr val="00C9B1">
              <a:alpha val="10000"/>
            </a:srgbClr>
          </a:solidFill>
          <a:ln w="12700">
            <a:solidFill>
              <a:srgbClr val="00C9B1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6704" y="2286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C9B1"/>
                </a:solidFill>
              </a:rPr>
              <a:t>OUTCOME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46704" y="252374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cut requirements definition time by ~40% and catch scope gaps before a single line of code is written.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82112" y="3108960"/>
            <a:ext cx="5715000" cy="1828800"/>
          </a:xfrm>
          <a:prstGeom prst="rect">
            <a:avLst/>
          </a:prstGeom>
          <a:solidFill>
            <a:srgbClr val="060E24"/>
          </a:solidFill>
          <a:ln w="12700">
            <a:solidFill>
              <a:srgbClr val="00C9B1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46704" y="32004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C9B1"/>
                </a:solidFill>
              </a:rPr>
              <a:t>REAL EXAMPLE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46704" y="3456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PM writes: "Users should be able to manage their account." — one sentence, no detail.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46704" y="3767328"/>
            <a:ext cx="5394960" cy="1051560"/>
          </a:xfrm>
          <a:prstGeom prst="rect">
            <a:avLst/>
          </a:prstGeom>
          <a:solidFill>
            <a:srgbClr val="15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8144" y="3813048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produces: 9 user stories (password reset, profile edit, avatar upload, GDPR deletion, email change, notification prefs, 2FA setup, session management, accessibility) — each with acceptance criteria, in under 60 seconds.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5F0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Phase 01 of 06  ·  How AI Helps in the SDLC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" y="457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9B6DFF">
                    <a:alpha val="18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64592" y="1051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&amp;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4592" y="15727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right structural decisions before they become expensive to undo.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2231136"/>
            <a:ext cx="2606040" cy="27432"/>
          </a:xfrm>
          <a:prstGeom prst="rect">
            <a:avLst/>
          </a:prstGeom>
          <a:solidFill>
            <a:srgbClr val="9B6DFF">
              <a:alpha val="45000"/>
            </a:srgbClr>
          </a:solidFill>
          <a:ln w="12700">
            <a:solidFill>
              <a:srgbClr val="9B6D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2331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5C5C"/>
                </a:solidFill>
              </a:rPr>
              <a:t>WITHOUT AI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" y="259689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Anti-patterns slip through design reviews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" y="2980944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API contracts designed by gut feel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" y="3364992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Security risks discovered post-launch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2112" y="109728"/>
            <a:ext cx="57150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09728"/>
            <a:ext cx="5715000" cy="54864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20116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B6DFF"/>
                </a:solidFill>
              </a:rPr>
              <a:t>HOW AI HELPS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46704" y="557784"/>
            <a:ext cx="201168" cy="201168"/>
          </a:xfrm>
          <a:prstGeom prst="ellipse">
            <a:avLst/>
          </a:prstGeom>
          <a:solidFill>
            <a:srgbClr val="9B6DFF">
              <a:alpha val="25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557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DFF"/>
                </a:solidFill>
              </a:rPr>
              <a:t>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21024" y="5120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proposed architecture and surfaces anti-patterns, bottlenecks, and scalability gaps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46704" y="987552"/>
            <a:ext cx="201168" cy="201168"/>
          </a:xfrm>
          <a:prstGeom prst="ellipse">
            <a:avLst/>
          </a:prstGeom>
          <a:solidFill>
            <a:srgbClr val="9B6DFF">
              <a:alpha val="25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987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DFF"/>
                </a:solidFill>
              </a:rPr>
              <a:t>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21024" y="9418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API contracts, data schemas, and sequence diagrams from plain English descriptions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46704" y="1417320"/>
            <a:ext cx="201168" cy="201168"/>
          </a:xfrm>
          <a:prstGeom prst="ellipse">
            <a:avLst/>
          </a:prstGeom>
          <a:solidFill>
            <a:srgbClr val="9B6DFF">
              <a:alpha val="25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6704" y="1417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DFF"/>
                </a:solidFill>
              </a:rPr>
              <a:t>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21024" y="13716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threat modelling — identifying auth gaps, injection risks, and data exposure vectors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82112" y="2231136"/>
            <a:ext cx="5715000" cy="777240"/>
          </a:xfrm>
          <a:prstGeom prst="rect">
            <a:avLst/>
          </a:prstGeom>
          <a:solidFill>
            <a:srgbClr val="9B6DFF">
              <a:alpha val="10000"/>
            </a:srgbClr>
          </a:solidFill>
          <a:ln w="12700">
            <a:solidFill>
              <a:srgbClr val="9B6DFF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6704" y="2286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B6DFF"/>
                </a:solidFill>
              </a:rPr>
              <a:t>OUTCOME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46704" y="252374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catch architectural mistakes in hours instead of weeks, and enter development with complete, agreed API contracts.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82112" y="3108960"/>
            <a:ext cx="5715000" cy="1828800"/>
          </a:xfrm>
          <a:prstGeom prst="rect">
            <a:avLst/>
          </a:prstGeom>
          <a:solidFill>
            <a:srgbClr val="060E24"/>
          </a:solidFill>
          <a:ln w="12700">
            <a:solidFill>
              <a:srgbClr val="9B6D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46704" y="32004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B6DFF"/>
                </a:solidFill>
              </a:rPr>
              <a:t>REAL EXAMPLE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46704" y="3456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says: "We'll use a shared database for all our microservices to keep it simple."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46704" y="3767328"/>
            <a:ext cx="5394960" cy="1051560"/>
          </a:xfrm>
          <a:prstGeom prst="rect">
            <a:avLst/>
          </a:prstGeom>
          <a:solidFill>
            <a:srgbClr val="15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8144" y="3813048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flags: shared DB creates tight coupling, blocks independent deployments, causes schema conflicts between teams, and creates a scaling bottleneck. Suggests database-per-service with async event communication — and explains the tradeoffs clearly.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5F0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Phase 02 of 06  ·  How AI Helps in the SDLC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" y="457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3DD68C">
                    <a:alpha val="18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64592" y="1051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4592" y="15727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better code faster — with fewer bugs and less time on the blank page.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2231136"/>
            <a:ext cx="2606040" cy="27432"/>
          </a:xfrm>
          <a:prstGeom prst="rect">
            <a:avLst/>
          </a:prstGeom>
          <a:solidFill>
            <a:srgbClr val="3DD68C">
              <a:alpha val="45000"/>
            </a:srgbClr>
          </a:solidFill>
          <a:ln w="12700">
            <a:solidFill>
              <a:srgbClr val="3DD68C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2331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5C5C"/>
                </a:solidFill>
              </a:rPr>
              <a:t>WITHOUT AI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" y="259689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Half the day spent on boilerplate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" y="2980944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Debugging takes hours from cryptic errors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" y="3364992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Code review is slow and inconsistent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2112" y="109728"/>
            <a:ext cx="57150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09728"/>
            <a:ext cx="5715000" cy="54864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20116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DD68C"/>
                </a:solidFill>
              </a:rPr>
              <a:t>HOW AI HELPS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46704" y="557784"/>
            <a:ext cx="201168" cy="201168"/>
          </a:xfrm>
          <a:prstGeom prst="ellipse">
            <a:avLst/>
          </a:prstGeom>
          <a:solidFill>
            <a:srgbClr val="3DD68C">
              <a:alpha val="25000"/>
            </a:srgbClr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557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D68C"/>
                </a:solidFill>
              </a:rPr>
              <a:t>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21024" y="5120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boilerplate, scaffolding, and repetitive code patterns instantly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46704" y="987552"/>
            <a:ext cx="201168" cy="201168"/>
          </a:xfrm>
          <a:prstGeom prst="ellipse">
            <a:avLst/>
          </a:prstGeom>
          <a:solidFill>
            <a:srgbClr val="3DD68C">
              <a:alpha val="25000"/>
            </a:srgbClr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987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D68C"/>
                </a:solidFill>
              </a:rPr>
              <a:t>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21024" y="9418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cryptic error messages, identifies root cause, and suggests exact fixes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46704" y="1417320"/>
            <a:ext cx="201168" cy="201168"/>
          </a:xfrm>
          <a:prstGeom prst="ellipse">
            <a:avLst/>
          </a:prstGeom>
          <a:solidFill>
            <a:srgbClr val="3DD68C">
              <a:alpha val="25000"/>
            </a:srgbClr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6704" y="1417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D68C"/>
                </a:solidFill>
              </a:rPr>
              <a:t>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21024" y="13716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pull requests for logic bugs, security issues, and style inconsistencies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82112" y="2231136"/>
            <a:ext cx="5715000" cy="777240"/>
          </a:xfrm>
          <a:prstGeom prst="rect">
            <a:avLst/>
          </a:prstGeom>
          <a:solidFill>
            <a:srgbClr val="3DD68C">
              <a:alpha val="10000"/>
            </a:srgbClr>
          </a:solidFill>
          <a:ln w="12700">
            <a:solidFill>
              <a:srgbClr val="3DD68C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6704" y="2286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DD68C"/>
                </a:solidFill>
              </a:rPr>
              <a:t>OUTCOME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46704" y="252374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report 35–55% productivity gains — not by writing less code, but by spending more time on the parts that matter.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82112" y="3108960"/>
            <a:ext cx="5715000" cy="1828800"/>
          </a:xfrm>
          <a:prstGeom prst="rect">
            <a:avLst/>
          </a:prstGeom>
          <a:solidFill>
            <a:srgbClr val="060E24"/>
          </a:solidFill>
          <a:ln w="12700">
            <a:solidFill>
              <a:srgbClr val="3DD68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46704" y="32004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DD68C"/>
                </a:solidFill>
              </a:rPr>
              <a:t>REAL EXAMPLE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46704" y="3456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gets: "TypeError: Cannot read properties of undefined (reading 'price')" at 2pm before a demo.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46704" y="3767328"/>
            <a:ext cx="5394960" cy="1051560"/>
          </a:xfrm>
          <a:prstGeom prst="rect">
            <a:avLst/>
          </a:prstGeom>
          <a:solidFill>
            <a:srgbClr val="15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8144" y="3813048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diagnoses: cart item is null when a product is deleted mid-session. The fix is one line of optional chaining. AI also suggests adding a cart refresh on 404 responses — a related bug the dev hadn't spotted yet.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5F0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Phase 03 of 06  ·  How AI Helps in the SDLC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" y="457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AB00">
                    <a:alpha val="18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64592" y="1051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QA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4592" y="15727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bugs before users do — at a scale and speed no human team can match alone.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2231136"/>
            <a:ext cx="2606040" cy="27432"/>
          </a:xfrm>
          <a:prstGeom prst="rect">
            <a:avLst/>
          </a:prstGeom>
          <a:solidFill>
            <a:srgbClr val="FFAB00">
              <a:alpha val="45000"/>
            </a:srgbClr>
          </a:solidFill>
          <a:ln w="12700">
            <a:solidFill>
              <a:srgbClr val="FFAB00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2331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5C5C"/>
                </a:solidFill>
              </a:rPr>
              <a:t>WITHOUT AI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" y="259689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Test coverage is incomplete — edge cases slip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" y="2980944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Writing tests is slow, so teams skip them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" y="3364992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Bugs found in production, not before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2112" y="109728"/>
            <a:ext cx="57150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09728"/>
            <a:ext cx="5715000" cy="54864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20116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AB00"/>
                </a:solidFill>
              </a:rPr>
              <a:t>HOW AI HELPS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46704" y="557784"/>
            <a:ext cx="201168" cy="201168"/>
          </a:xfrm>
          <a:prstGeom prst="ellipse">
            <a:avLst/>
          </a:prstGeom>
          <a:solidFill>
            <a:srgbClr val="FFAB00">
              <a:alpha val="25000"/>
            </a:srgbClr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557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AB00"/>
                </a:solidFill>
              </a:rPr>
              <a:t>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21024" y="5120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comprehensive unit tests from function signatures — including edge cases humans skip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46704" y="987552"/>
            <a:ext cx="201168" cy="201168"/>
          </a:xfrm>
          <a:prstGeom prst="ellipse">
            <a:avLst/>
          </a:prstGeom>
          <a:solidFill>
            <a:srgbClr val="FFAB00">
              <a:alpha val="25000"/>
            </a:srgbClr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987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AB00"/>
                </a:solidFill>
              </a:rPr>
              <a:t>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21024" y="9418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end-to-end test scripts from a plain description of the user journey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46704" y="1417320"/>
            <a:ext cx="201168" cy="201168"/>
          </a:xfrm>
          <a:prstGeom prst="ellipse">
            <a:avLst/>
          </a:prstGeom>
          <a:solidFill>
            <a:srgbClr val="FFAB00">
              <a:alpha val="25000"/>
            </a:srgbClr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6704" y="1417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AB00"/>
                </a:solidFill>
              </a:rPr>
              <a:t>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21024" y="13716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bug reports and production errors to identify root cause and suggest regression tests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82112" y="2231136"/>
            <a:ext cx="5715000" cy="777240"/>
          </a:xfrm>
          <a:prstGeom prst="rect">
            <a:avLst/>
          </a:prstGeom>
          <a:solidFill>
            <a:srgbClr val="FFAB00">
              <a:alpha val="10000"/>
            </a:srgbClr>
          </a:solidFill>
          <a:ln w="12700">
            <a:solidFill>
              <a:srgbClr val="FFAB00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6704" y="2286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AB00"/>
                </a:solidFill>
              </a:rPr>
              <a:t>OUTCOME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46704" y="252374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test coverage 70% faster and consistently surfaces edge cases — negative inputs, timeouts, concurrency — that teams miss under deadline pressure.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82112" y="3108960"/>
            <a:ext cx="5715000" cy="1828800"/>
          </a:xfrm>
          <a:prstGeom prst="rect">
            <a:avLst/>
          </a:prstGeom>
          <a:solidFill>
            <a:srgbClr val="060E24"/>
          </a:solidFill>
          <a:ln w="12700">
            <a:solidFill>
              <a:srgbClr val="FFAB0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46704" y="32004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AB00"/>
                </a:solidFill>
              </a:rPr>
              <a:t>REAL EXAMPLE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46704" y="3456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 pastes a payment function signature and asks for test coverage.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46704" y="3767328"/>
            <a:ext cx="5394960" cy="1051560"/>
          </a:xfrm>
          <a:prstGeom prst="rect">
            <a:avLst/>
          </a:prstGeom>
          <a:solidFill>
            <a:srgbClr val="15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8144" y="3813048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produces 14 tests: happy path, declined card, network timeout, idempotency key collision, zero amount, negative amount, unsupported currency, expired token, missing fields (×4), amount above limit, and concurrent duplicate requests — in under 30 seconds.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5F0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Phase 04 of 06  ·  How AI Helps in the SDLC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" y="457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5C5C">
                    <a:alpha val="18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64592" y="1051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CI/CD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4592" y="15727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code to production reliably — without manual steps, config errors, or 2am surprises.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2231136"/>
            <a:ext cx="2606040" cy="27432"/>
          </a:xfrm>
          <a:prstGeom prst="rect">
            <a:avLst/>
          </a:prstGeom>
          <a:solidFill>
            <a:srgbClr val="FF5C5C">
              <a:alpha val="45000"/>
            </a:srgbClr>
          </a:solidFill>
          <a:ln w="12700">
            <a:solidFill>
              <a:srgbClr val="FF5C5C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2331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5C5C"/>
                </a:solidFill>
              </a:rPr>
              <a:t>WITHOUT AI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" y="259689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Pipeline config is written by copy-paste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" y="2980944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IaC errors cause outages after deploy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" y="3364992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Releases are risky — everyone dreads Fridays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2112" y="109728"/>
            <a:ext cx="57150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09728"/>
            <a:ext cx="5715000" cy="54864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20116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5C5C"/>
                </a:solidFill>
              </a:rPr>
              <a:t>HOW AI HELPS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46704" y="557784"/>
            <a:ext cx="201168" cy="201168"/>
          </a:xfrm>
          <a:prstGeom prst="ellipse">
            <a:avLst/>
          </a:prstGeom>
          <a:solidFill>
            <a:srgbClr val="FF5C5C">
              <a:alpha val="25000"/>
            </a:srgbClr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557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C5C"/>
                </a:solidFill>
              </a:rPr>
              <a:t>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21024" y="5120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CI/CD pipeline YAML from a plain description of your deployment requirements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46704" y="987552"/>
            <a:ext cx="201168" cy="201168"/>
          </a:xfrm>
          <a:prstGeom prst="ellipse">
            <a:avLst/>
          </a:prstGeom>
          <a:solidFill>
            <a:srgbClr val="FF5C5C">
              <a:alpha val="25000"/>
            </a:srgbClr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987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C5C"/>
                </a:solidFill>
              </a:rPr>
              <a:t>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21024" y="9418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and reviews Infrastructure as Code — catching misconfiguration before it hits production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46704" y="1417320"/>
            <a:ext cx="201168" cy="201168"/>
          </a:xfrm>
          <a:prstGeom prst="ellipse">
            <a:avLst/>
          </a:prstGeom>
          <a:solidFill>
            <a:srgbClr val="FF5C5C">
              <a:alpha val="25000"/>
            </a:srgbClr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6704" y="1417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C5C"/>
                </a:solidFill>
              </a:rPr>
              <a:t>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21024" y="13716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rollback strategies, feature flag rollout plans, and deployment runbooks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82112" y="2231136"/>
            <a:ext cx="5715000" cy="777240"/>
          </a:xfrm>
          <a:prstGeom prst="rect">
            <a:avLst/>
          </a:prstGeom>
          <a:solidFill>
            <a:srgbClr val="FF5C5C">
              <a:alpha val="10000"/>
            </a:srgbClr>
          </a:solidFill>
          <a:ln w="12700">
            <a:solidFill>
              <a:srgbClr val="FF5C5C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6704" y="2286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5C5C"/>
                </a:solidFill>
              </a:rPr>
              <a:t>OUTCOME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46704" y="252374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infrastructure templates reduce misconfiguration errors by ~50% — and give every team member a clear runbook so deployments aren't dependent on one person.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82112" y="3108960"/>
            <a:ext cx="5715000" cy="1828800"/>
          </a:xfrm>
          <a:prstGeom prst="rect">
            <a:avLst/>
          </a:prstGeom>
          <a:solidFill>
            <a:srgbClr val="060E24"/>
          </a:solidFill>
          <a:ln w="12700">
            <a:solidFill>
              <a:srgbClr val="FF5C5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46704" y="32004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5C5C"/>
                </a:solidFill>
              </a:rPr>
              <a:t>REAL EXAMPLE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46704" y="3456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needs a GitHub Actions pipeline: Node.js → Docker → ECS, with a staging gate and rollback.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46704" y="3767328"/>
            <a:ext cx="5394960" cy="1051560"/>
          </a:xfrm>
          <a:prstGeom prst="rect">
            <a:avLst/>
          </a:prstGeom>
          <a:solidFill>
            <a:srgbClr val="15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8144" y="3813048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 complete 70-line deploy.yml: installs dependencies, runs tests, builds and pushes Docker image, deploys to staging, waits for manual approval, deploys to production, auto-rolls back on failure, and posts to Slack — first attempt, no Stack Overflow needed.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5F0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Phase 05 of 06  ·  How AI Helps in the SDLC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" y="457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C4899">
                    <a:alpha val="18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64592" y="1051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&amp;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4592" y="15727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what's broken in production — and fixing it before it becomes a crisis.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2231136"/>
            <a:ext cx="2606040" cy="27432"/>
          </a:xfrm>
          <a:prstGeom prst="rect">
            <a:avLst/>
          </a:prstGeom>
          <a:solidFill>
            <a:srgbClr val="EC4899">
              <a:alpha val="45000"/>
            </a:srgbClr>
          </a:solidFill>
          <a:ln w="12700">
            <a:solidFill>
              <a:srgbClr val="EC4899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2331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5C5C"/>
                </a:solidFill>
              </a:rPr>
              <a:t>WITHOUT AI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" y="259689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Alerts fire but no one knows what caused 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" y="2980944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Incidents take hours to diagnose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" y="3364992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Post-mortems are skipped or surface nothing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2112" y="109728"/>
            <a:ext cx="57150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09728"/>
            <a:ext cx="5715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20116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C4899"/>
                </a:solidFill>
              </a:rPr>
              <a:t>HOW AI HELPS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46704" y="557784"/>
            <a:ext cx="201168" cy="201168"/>
          </a:xfrm>
          <a:prstGeom prst="ellipse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557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4899"/>
                </a:solidFill>
              </a:rPr>
              <a:t>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21024" y="5120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log dumps and error spikes, identifies root cause in plain language, and suggests the fix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46704" y="987552"/>
            <a:ext cx="201168" cy="201168"/>
          </a:xfrm>
          <a:prstGeom prst="ellipse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987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4899"/>
                </a:solidFill>
              </a:rPr>
              <a:t>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21024" y="9418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alerts into a single incident narrative — cutting alert noise by up to 80%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46704" y="1417320"/>
            <a:ext cx="201168" cy="201168"/>
          </a:xfrm>
          <a:prstGeom prst="ellipse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6704" y="1417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4899"/>
                </a:solidFill>
              </a:rPr>
              <a:t>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21024" y="13716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structured post-mortems with 5 Whys, contributing factors, and actionable items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82112" y="2231136"/>
            <a:ext cx="5715000" cy="777240"/>
          </a:xfrm>
          <a:prstGeom prst="rect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6704" y="2286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C4899"/>
                </a:solidFill>
              </a:rPr>
              <a:t>OUTCOME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46704" y="252374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go from 90-minute incident bridges to 15-minute resolutions — because AI identifies the cause immediately instead of hours into a triage call.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82112" y="3108960"/>
            <a:ext cx="5715000" cy="1828800"/>
          </a:xfrm>
          <a:prstGeom prst="rect">
            <a:avLst/>
          </a:prstGeom>
          <a:solidFill>
            <a:srgbClr val="060E24"/>
          </a:solidFill>
          <a:ln w="12700">
            <a:solidFill>
              <a:srgbClr val="EC489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46704" y="32004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C4899"/>
                </a:solidFill>
              </a:rPr>
              <a:t>REAL EXAMPLE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46704" y="3456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alerts fire at once during a production incident. On-call engineer pastes the log tail into AI.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46704" y="3767328"/>
            <a:ext cx="5394960" cy="1051560"/>
          </a:xfrm>
          <a:prstGeom prst="rect">
            <a:avLst/>
          </a:prstGeom>
          <a:solidFill>
            <a:srgbClr val="15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8144" y="3813048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groups all 47 into one root cause: S3 latency in us-east-1 causing cascading timeouts. Identifies which deploy triggered it, recommends an immediate mitigation (circuit breaker), and drafts the customer communication — all before the incident bridge has 5 people on 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DE5F0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Phase 06 of 06  ·  How AI Helps in the SDLC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vs. After: The Full SDLC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team. The same 6 phases. Completely different experience.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0" y="1005840"/>
            <a:ext cx="3291840" cy="310896"/>
          </a:xfrm>
          <a:prstGeom prst="rect">
            <a:avLst/>
          </a:prstGeom>
          <a:solidFill>
            <a:srgbClr val="FF5C5C">
              <a:alpha val="20000"/>
            </a:srgbClr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0058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5C5C"/>
                </a:solidFill>
              </a:rPr>
              <a:t>WITHOUT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57800" y="1005840"/>
            <a:ext cx="3566160" cy="310896"/>
          </a:xfrm>
          <a:prstGeom prst="rect">
            <a:avLst/>
          </a:prstGeom>
          <a:solidFill>
            <a:srgbClr val="00C9B1">
              <a:alpha val="2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10058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C9B1"/>
                </a:solidFill>
              </a:rPr>
              <a:t>WITH AI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1408176"/>
            <a:ext cx="1554480" cy="502920"/>
          </a:xfrm>
          <a:prstGeom prst="rect">
            <a:avLst/>
          </a:prstGeom>
          <a:solidFill>
            <a:srgbClr val="152550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1408176"/>
            <a:ext cx="64008" cy="5029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4081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0" y="1408176"/>
            <a:ext cx="3291840" cy="502920"/>
          </a:xfrm>
          <a:prstGeom prst="rect">
            <a:avLst/>
          </a:prstGeom>
          <a:solidFill>
            <a:srgbClr val="152550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14081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2–3 days of requirements workshops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57800" y="1408176"/>
            <a:ext cx="3566160" cy="502920"/>
          </a:xfrm>
          <a:prstGeom prst="rect">
            <a:avLst/>
          </a:prstGeom>
          <a:solidFill>
            <a:srgbClr val="152550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40817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Hours — AI drafts stories, team refines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" y="2002536"/>
            <a:ext cx="155448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2002536"/>
            <a:ext cx="64008" cy="502920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200253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0" y="2002536"/>
            <a:ext cx="329184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20025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Anti-patterns caught weeks later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57800" y="2002536"/>
            <a:ext cx="356616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20025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Flagged in the same conversation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1168" y="2596896"/>
            <a:ext cx="1554480" cy="502920"/>
          </a:xfrm>
          <a:prstGeom prst="rect">
            <a:avLst/>
          </a:prstGeom>
          <a:solidFill>
            <a:srgbClr val="152550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2596896"/>
            <a:ext cx="64008" cy="502920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25968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828800" y="2596896"/>
            <a:ext cx="3291840" cy="502920"/>
          </a:xfrm>
          <a:prstGeom prst="rect">
            <a:avLst/>
          </a:prstGeom>
          <a:solidFill>
            <a:srgbClr val="152550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25968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50% of time on boilerplate &amp; bugs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57800" y="2596896"/>
            <a:ext cx="3566160" cy="502920"/>
          </a:xfrm>
          <a:prstGeom prst="rect">
            <a:avLst/>
          </a:prstGeom>
          <a:solidFill>
            <a:srgbClr val="152550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25968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Focus on logic, AI handles the rest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1168" y="3191256"/>
            <a:ext cx="155448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" y="3191256"/>
            <a:ext cx="64008" cy="502920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" y="319125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828800" y="3191256"/>
            <a:ext cx="329184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20240" y="31912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Coverage gaps, edge cases skipped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57800" y="3191256"/>
            <a:ext cx="356616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31912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coverage generated in minutes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01168" y="3785616"/>
            <a:ext cx="1554480" cy="502920"/>
          </a:xfrm>
          <a:prstGeom prst="rect">
            <a:avLst/>
          </a:prstGeom>
          <a:solidFill>
            <a:srgbClr val="152550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1168" y="3785616"/>
            <a:ext cx="64008" cy="502920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" y="378561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828800" y="3785616"/>
            <a:ext cx="3291840" cy="502920"/>
          </a:xfrm>
          <a:prstGeom prst="rect">
            <a:avLst/>
          </a:prstGeom>
          <a:solidFill>
            <a:srgbClr val="152550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20240" y="37856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Config errors, risky Friday releases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257800" y="3785616"/>
            <a:ext cx="3566160" cy="502920"/>
          </a:xfrm>
          <a:prstGeom prst="rect">
            <a:avLst/>
          </a:prstGeom>
          <a:solidFill>
            <a:srgbClr val="152550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378561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Validated IaC, automated runbooks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01168" y="4379976"/>
            <a:ext cx="155448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168" y="4379976"/>
            <a:ext cx="64008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43799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828800" y="4379976"/>
            <a:ext cx="329184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20240" y="43799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90-min triage calls, vague RCAs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7800" y="4379976"/>
            <a:ext cx="3566160" cy="502920"/>
          </a:xfrm>
          <a:prstGeom prst="rect">
            <a:avLst/>
          </a:prstGeom>
          <a:solidFill>
            <a:srgbClr val="0D1B3E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49240" y="437997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15-min fix with plain-English diagnosis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7315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ADOPT AI IN YOUR SDLC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96112"/>
            <a:ext cx="64008" cy="1207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024128"/>
            <a:ext cx="347472" cy="274320"/>
          </a:xfrm>
          <a:prstGeom prst="rect">
            <a:avLst/>
          </a:prstGeom>
          <a:solidFill>
            <a:srgbClr val="00C9B1">
              <a:alpha val="1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0241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024128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with the blank-page problems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" y="138988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test cases, pipeline configs — wherever your team stares at an empty file longest. AI removes the blank-page problem first.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18304" y="896112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18304" y="896112"/>
            <a:ext cx="64008" cy="1207008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82896" y="1024128"/>
            <a:ext cx="347472" cy="274320"/>
          </a:xfrm>
          <a:prstGeom prst="rect">
            <a:avLst/>
          </a:prstGeom>
          <a:solidFill>
            <a:srgbClr val="9B6DFF">
              <a:alpha val="15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10241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6D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12664" y="1024128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AI to challenge your own thinking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82896" y="138988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finalising any architecture decision, sprint plan, or design, ask AI to steelman the opposite view. It finds what you missed.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2221992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221992"/>
            <a:ext cx="64008" cy="1207008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" y="2350008"/>
            <a:ext cx="347472" cy="274320"/>
          </a:xfrm>
          <a:prstGeom prst="rect">
            <a:avLst/>
          </a:prstGeom>
          <a:solidFill>
            <a:srgbClr val="3DD68C">
              <a:alpha val="15000"/>
            </a:srgbClr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3500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D68C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" y="2350008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humans in the review seat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" y="27157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proposes, humans decide. Never ship AI output without someone reading it. The value is in speed of drafting — judgment stays with the team.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18304" y="2221992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18304" y="2221992"/>
            <a:ext cx="64008" cy="1207008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82896" y="2350008"/>
            <a:ext cx="347472" cy="274320"/>
          </a:xfrm>
          <a:prstGeom prst="rect">
            <a:avLst/>
          </a:prstGeom>
          <a:solidFill>
            <a:srgbClr val="FFAB00">
              <a:alpha val="15000"/>
            </a:srgbClr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23500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B00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12664" y="2350008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 AI context, not just questions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82896" y="27157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context you give (codebase, constraints, prior decisions), the better the output. Vague prompts produce vague answers.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6032" y="3547872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3547872"/>
            <a:ext cx="64008" cy="1207008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" y="3675888"/>
            <a:ext cx="347472" cy="274320"/>
          </a:xfrm>
          <a:prstGeom prst="rect">
            <a:avLst/>
          </a:prstGeom>
          <a:solidFill>
            <a:srgbClr val="FF5C5C">
              <a:alpha val="15000"/>
            </a:srgbClr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6758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C5C"/>
                </a:solidFill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" y="3675888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AI into the workflow, not around 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0624" y="404164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treat AI as a separate step. Integrate it into your standup, PR review, and retro — so it's a habit, not an afterthought.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18304" y="3547872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18304" y="3547872"/>
            <a:ext cx="64008" cy="1207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82896" y="3675888"/>
            <a:ext cx="347472" cy="274320"/>
          </a:xfrm>
          <a:prstGeom prst="rect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36758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12664" y="3675888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 the before and the after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82896" y="404164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time-to-first-draft, defect escape rate, MTTD. Without measurement you can't show the team — or leadership — that it's working.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The teams that win aren't the ones with the most AI tools — they're the ones who changed how they work.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AI Helps in the SDLC Process</dc:title>
  <dc:subject>PptxGenJS Presentation</dc:subject>
  <dc:creator>PptxGenJS</dc:creator>
  <cp:lastModifiedBy>PptxGenJS</cp:lastModifiedBy>
  <cp:revision>1</cp:revision>
  <dcterms:created xsi:type="dcterms:W3CDTF">2026-04-06T07:37:42Z</dcterms:created>
  <dcterms:modified xsi:type="dcterms:W3CDTF">2026-04-06T07:37:42Z</dcterms:modified>
</cp:coreProperties>
</file>