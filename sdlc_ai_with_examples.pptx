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12057">
              <a:alpha val="70000"/>
            </a:srgbClr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-457200"/>
            <a:ext cx="3657600" cy="365760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92608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292608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292608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292608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292608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292608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333756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333756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333756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86600" y="333756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333756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333756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374904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74904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374904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86600" y="374904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374904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09560" y="374904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416052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416052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416052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86600" y="416052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416052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09560" y="4160520"/>
            <a:ext cx="54864" cy="54864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1234440"/>
            <a:ext cx="1920240" cy="274320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121615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8BDF8"/>
                </a:solidFill>
              </a:rPr>
              <a:t>ENTERPRISE FRAMEWORK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1480" y="157276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AI-Augmented</a:t>
            </a:r>
            <a:endParaRPr lang="en-US" sz="4600" dirty="0"/>
          </a:p>
        </p:txBody>
      </p:sp>
      <p:sp>
        <p:nvSpPr>
          <p:cNvPr id="34" name="Text 32"/>
          <p:cNvSpPr/>
          <p:nvPr/>
        </p:nvSpPr>
        <p:spPr>
          <a:xfrm>
            <a:off x="411480" y="230428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SDLC Process</a:t>
            </a:r>
            <a:endParaRPr lang="en-US" sz="4600" dirty="0"/>
          </a:p>
        </p:txBody>
      </p:sp>
      <p:sp>
        <p:nvSpPr>
          <p:cNvPr id="35" name="Text 33"/>
          <p:cNvSpPr/>
          <p:nvPr/>
        </p:nvSpPr>
        <p:spPr>
          <a:xfrm>
            <a:off x="411480" y="32004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guide to integrating AI tools across every phase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software development lifecycle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2057"/>
          </a:solidFill>
          <a:ln w="12700">
            <a:solidFill>
              <a:srgbClr val="1120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94A3B8"/>
                </a:solidFill>
              </a:rPr>
              <a:t>AI-POWERED DELIVERY  |  6-PHASE FRAMEWORK  |  TOOLS MAPPING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6-PHASE AI-SDLC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integrated at every stage to accelerate delivery and reduce errors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269748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463040"/>
            <a:ext cx="411480" cy="292608"/>
          </a:xfrm>
          <a:prstGeom prst="rect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6304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4538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84708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risk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sprint strategy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129844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298448"/>
            <a:ext cx="269748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463040"/>
            <a:ext cx="411480" cy="292608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46304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94760" y="14538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184708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UX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API contracts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29844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298448"/>
            <a:ext cx="2697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463040"/>
            <a:ext cx="411480" cy="29260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46304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14538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72200" y="184708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 coding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implementation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99008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90088"/>
            <a:ext cx="26974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154680"/>
            <a:ext cx="411480" cy="292608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1546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1455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" y="353872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test gen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QA automation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54680" y="299008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54680" y="2990088"/>
            <a:ext cx="26974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3154680"/>
            <a:ext cx="411480" cy="29260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31546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794760" y="31455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91840" y="353872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IaC automation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299008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2990088"/>
            <a:ext cx="269748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3154680"/>
            <a:ext cx="411480" cy="292608"/>
          </a:xfrm>
          <a:prstGeom prst="rect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31546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</a:rPr>
              <a:t>06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75120" y="31455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172200" y="353872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incident AI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EA5E9"/>
                </a:solidFill>
              </a:rPr>
              <a:t>AI tools reduce overall delivery cycle time by 30–55% across all phases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1371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EA5E9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64592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&amp;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" y="166420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scope, requirements, and project roadmap with AI-assisted analysis and risk detection.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2423160"/>
            <a:ext cx="2606040" cy="27432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42032"/>
            <a:ext cx="2697480" cy="256032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25420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EA5E9"/>
                </a:solidFill>
              </a:rPr>
              <a:t>⚡ AI IMPACT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" y="2834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reduces requirements definition time by ~40% through automated gap analysis and ambiguity detection.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</a:rPr>
              <a:t>KEY ACTIVITIES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502920"/>
            <a:ext cx="54864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502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 &amp; requirements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91840" y="978408"/>
            <a:ext cx="54864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9784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analysis &amp; risk register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1453896"/>
            <a:ext cx="54864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4538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&amp; backlog creation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91840" y="1929384"/>
            <a:ext cx="54864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19293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records (ADRs)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89320" y="182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</a:rPr>
              <a:t>TOOLS &amp; AI INTEGRATIONS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9320" y="50292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9320" y="502920"/>
            <a:ext cx="54864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566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(Anthropic)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73568" y="594360"/>
            <a:ext cx="868680" cy="201168"/>
          </a:xfrm>
          <a:prstGeom prst="rect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5943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EA5E9"/>
                </a:solidFill>
              </a:rPr>
              <a:t>AI ASSISTANT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126480" y="841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analysis, ADR drafting, user story generation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0" y="1252728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1252728"/>
            <a:ext cx="54864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316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Jira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73568" y="1344168"/>
            <a:ext cx="868680" cy="201168"/>
          </a:xfrm>
          <a:prstGeom prst="rect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73568" y="13441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EA5E9"/>
                </a:solidFill>
              </a:rPr>
              <a:t>PROJECT MGMT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126480" y="1591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management, sprint planning, issue tracking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89320" y="2002536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89320" y="2002536"/>
            <a:ext cx="54864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066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Confluence / Notion AI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973568" y="2093976"/>
            <a:ext cx="868680" cy="201168"/>
          </a:xfrm>
          <a:prstGeom prst="rect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73568" y="20939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EA5E9"/>
                </a:solidFill>
              </a:rPr>
              <a:t>DOCUMENTATION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126480" y="2340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summaries, project wiki, technical specs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89320" y="2752344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89320" y="2752344"/>
            <a:ext cx="54864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816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Miro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973568" y="2843784"/>
            <a:ext cx="868680" cy="201168"/>
          </a:xfrm>
          <a:prstGeom prst="rect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73568" y="284378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EA5E9"/>
                </a:solidFill>
              </a:rPr>
              <a:t>DIAGRAMMING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126480" y="3090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user journey mapping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89320" y="3502152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89320" y="3502152"/>
            <a:ext cx="54864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973568" y="3593592"/>
            <a:ext cx="868680" cy="201168"/>
          </a:xfrm>
          <a:prstGeom prst="rect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73568" y="35935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EA5E9"/>
                </a:solidFill>
              </a:rPr>
              <a:t>AI CODING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126480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scaffolding, PoC code generation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Phase 01 of 06  |  AI-Augmented SDLC Framework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2057"/>
          </a:solidFill>
          <a:ln w="12700">
            <a:solidFill>
              <a:srgbClr val="112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37160"/>
            <a:ext cx="347472" cy="347472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37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" y="1371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&amp; Strategy  —  Examples in Action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" y="47548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prompts &amp; AI outputs your team can use today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" y="822960"/>
            <a:ext cx="4206240" cy="4114800"/>
          </a:xfrm>
          <a:prstGeom prst="rect">
            <a:avLst/>
          </a:prstGeom>
          <a:solidFill>
            <a:srgbClr val="112057"/>
          </a:solidFill>
          <a:ln w="12700">
            <a:solidFill>
              <a:srgbClr val="0EA5E9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1568" y="914400"/>
            <a:ext cx="914400" cy="22860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0EA5E9"/>
                </a:solidFill>
              </a:rPr>
              <a:t>CLAUDE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8328" y="9326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Story Generation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" y="1298448"/>
            <a:ext cx="50292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12984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8BDF8"/>
                </a:solidFill>
              </a:rPr>
              <a:t>INPUT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8328" y="1499616"/>
            <a:ext cx="393192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536192"/>
            <a:ext cx="3749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to Claude: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need a checkout flow for our e-commerce app. Users should be able to pay."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67128" y="24414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A5E9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" y="2642616"/>
            <a:ext cx="594360" cy="18288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642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EA5E9"/>
                </a:solidFill>
              </a:rPr>
              <a:t>AI OUTPUT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38328" y="2843784"/>
            <a:ext cx="3931920" cy="1984248"/>
          </a:xfrm>
          <a:prstGeom prst="rect">
            <a:avLst/>
          </a:prstGeom>
          <a:solidFill>
            <a:srgbClr val="071028"/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898648"/>
            <a:ext cx="3749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12 user stories generated: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Happy path purchase flow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 failure &amp; retry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Guest checkout (no login)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Cart abandonment recovery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Accessibility (screen reader)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layout edge cases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Saved payment methods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confirmation email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...+ 4 more with acceptance criteria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73168" y="822960"/>
            <a:ext cx="4206240" cy="4114800"/>
          </a:xfrm>
          <a:prstGeom prst="rect">
            <a:avLst/>
          </a:prstGeom>
          <a:solidFill>
            <a:srgbClr val="112057"/>
          </a:solidFill>
          <a:ln w="12700">
            <a:solidFill>
              <a:srgbClr val="0EA5E9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73568" y="914400"/>
            <a:ext cx="914400" cy="22860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3568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0EA5E9"/>
                </a:solidFill>
              </a:rPr>
              <a:t>CLAUDE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10328" y="9326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Risk Flagging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10328" y="1298448"/>
            <a:ext cx="50292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12984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8BDF8"/>
                </a:solidFill>
              </a:rPr>
              <a:t>INPUT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910328" y="1499616"/>
            <a:ext cx="393192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1536192"/>
            <a:ext cx="3749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to Claude: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team of 4 devs will build a multi-tenant SaaS app with SSO and billing in 3 months."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39128" y="24414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A5E9"/>
                </a:solidFill>
              </a:rPr>
              <a:t>▼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10328" y="2642616"/>
            <a:ext cx="594360" cy="18288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2642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EA5E9"/>
                </a:solidFill>
              </a:rPr>
              <a:t>AI OUTPUT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10328" y="2843784"/>
            <a:ext cx="3931920" cy="1984248"/>
          </a:xfrm>
          <a:prstGeom prst="rect">
            <a:avLst/>
          </a:prstGeom>
          <a:solidFill>
            <a:srgbClr val="071028"/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2898648"/>
            <a:ext cx="3749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Risks identified: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Tenant data isolation = 3+ weeks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SSO integration (SAML/OAuth) = 2 weeks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Billing (Stripe) edge cases = 1.5 weeks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Recommendation: Phase the MVP.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Month 1: Core app + single tenant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Month 2: Multi-tenancy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Month 3: SSO + billing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028"/>
          </a:solidFill>
          <a:ln w="12700">
            <a:solidFill>
              <a:srgbClr val="0710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Phase 01 Examples  |  AI-Augmented SDLC Framework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1371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8B5CF6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64592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&amp;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" y="166420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design, UX/UI, and technical architecture with AI-generated patterns and design reviews.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2423160"/>
            <a:ext cx="2606040" cy="27432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42032"/>
            <a:ext cx="2697480" cy="256032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25420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B5CF6"/>
                </a:solidFill>
              </a:rPr>
              <a:t>⚡ AI IMPACT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" y="2834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60% of boilerplate architecture patterns and auto-identifies design anti-patterns.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</a:rPr>
              <a:t>KEY ACTIVITIES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502920"/>
            <a:ext cx="54864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502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API design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91840" y="978408"/>
            <a:ext cx="54864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9784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design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1453896"/>
            <a:ext cx="54864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4538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wireframes &amp; prototypes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91840" y="1929384"/>
            <a:ext cx="54864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19293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threat modeling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89320" y="182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</a:rPr>
              <a:t>TOOLS &amp; AI INTEGRATIONS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9320" y="50292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9320" y="502920"/>
            <a:ext cx="54864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566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(Anthropic)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73568" y="594360"/>
            <a:ext cx="868680" cy="201168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5943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8B5CF6"/>
                </a:solidFill>
              </a:rPr>
              <a:t>AI ASSISTANT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126480" y="841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review, schema &amp; OpenAPI spec generation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0" y="1252728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1252728"/>
            <a:ext cx="54864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316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Figma AI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73568" y="1344168"/>
            <a:ext cx="868680" cy="201168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73568" y="13441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8B5CF6"/>
                </a:solidFill>
              </a:rPr>
              <a:t>DESIGN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126480" y="1591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 generation, design system enforcement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89320" y="2002536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89320" y="2002536"/>
            <a:ext cx="54864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066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973568" y="2093976"/>
            <a:ext cx="868680" cy="201168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73568" y="20939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8B5CF6"/>
                </a:solidFill>
              </a:rPr>
              <a:t>AI CODING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126480" y="2340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scaffolding, pattern suggestions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89320" y="2752344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89320" y="2752344"/>
            <a:ext cx="54864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816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draw.io / Miro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973568" y="2843784"/>
            <a:ext cx="868680" cy="201168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73568" y="284378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8B5CF6"/>
                </a:solidFill>
              </a:rPr>
              <a:t>DIAGRAMMING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126480" y="3090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ERDs, sequence diagrams, service maps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89320" y="3502152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89320" y="3502152"/>
            <a:ext cx="54864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Postman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973568" y="3593592"/>
            <a:ext cx="868680" cy="201168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73568" y="35935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8B5CF6"/>
                </a:solidFill>
              </a:rPr>
              <a:t>API DESIGN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126480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mocking, contract testing, documentation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Phase 02 of 06  |  AI-Augmented SDLC Framework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2057"/>
          </a:solidFill>
          <a:ln w="12700">
            <a:solidFill>
              <a:srgbClr val="112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37160"/>
            <a:ext cx="347472" cy="347472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37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" y="1371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&amp; Architecture  —  Examples in Action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" y="47548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prompts &amp; AI outputs your team can use today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" y="822960"/>
            <a:ext cx="4206240" cy="4114800"/>
          </a:xfrm>
          <a:prstGeom prst="rect">
            <a:avLst/>
          </a:prstGeom>
          <a:solidFill>
            <a:srgbClr val="112057"/>
          </a:solidFill>
          <a:ln w="12700">
            <a:solidFill>
              <a:srgbClr val="8B5C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1568" y="914400"/>
            <a:ext cx="914400" cy="228600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8B5CF6"/>
                </a:solidFill>
              </a:rPr>
              <a:t>CLAUDE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8328" y="9326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Spec from Schema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" y="1298448"/>
            <a:ext cx="50292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12984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8BDF8"/>
                </a:solidFill>
              </a:rPr>
              <a:t>INPUT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8328" y="1499616"/>
            <a:ext cx="393192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536192"/>
            <a:ext cx="3749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"Given this DB schema (users, orders, products tables), generate a REST API spec for order management."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67128" y="24414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" y="2642616"/>
            <a:ext cx="594360" cy="182880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642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8B5CF6"/>
                </a:solidFill>
              </a:rPr>
              <a:t>AI OUTPUT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38328" y="2843784"/>
            <a:ext cx="3931920" cy="1984248"/>
          </a:xfrm>
          <a:prstGeom prst="rect">
            <a:avLst/>
          </a:prstGeom>
          <a:solidFill>
            <a:srgbClr val="071028"/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898648"/>
            <a:ext cx="3749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OpenAPI 3.0 spec generated: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/orders          → list + pagination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/orders          → create, validates stock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/orders/{id}     → detail + line items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/orders/{id}    → status update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/orders/{id}   → soft delete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error codes, auth headers,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schemas, examples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73168" y="822960"/>
            <a:ext cx="4206240" cy="4114800"/>
          </a:xfrm>
          <a:prstGeom prst="rect">
            <a:avLst/>
          </a:prstGeom>
          <a:solidFill>
            <a:srgbClr val="112057"/>
          </a:solidFill>
          <a:ln w="12700">
            <a:solidFill>
              <a:srgbClr val="8B5CF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73568" y="914400"/>
            <a:ext cx="914400" cy="228600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3568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8B5CF6"/>
                </a:solidFill>
              </a:rPr>
              <a:t>CLAUDE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10328" y="9326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Risk Review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10328" y="1298448"/>
            <a:ext cx="50292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12984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8BDF8"/>
                </a:solidFill>
              </a:rPr>
              <a:t>INPUT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910328" y="1499616"/>
            <a:ext cx="393192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1536192"/>
            <a:ext cx="3749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plan to use a monolith with a shared Postgres DB for all microservices to save cost."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39128" y="24414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</a:rPr>
              <a:t>▼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10328" y="2642616"/>
            <a:ext cx="594360" cy="182880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2642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8B5CF6"/>
                </a:solidFill>
              </a:rPr>
              <a:t>AI OUTPUT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10328" y="2843784"/>
            <a:ext cx="3931920" cy="1984248"/>
          </a:xfrm>
          <a:prstGeom prst="rect">
            <a:avLst/>
          </a:prstGeom>
          <a:solidFill>
            <a:srgbClr val="071028"/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2898648"/>
            <a:ext cx="3749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3 anti-patterns detected: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Shared DB = tight coupling,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blocks independent deployments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Schema conflicts risk data corruption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Scaling bottleneck at DB layer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Suggested: Database-per-service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pattern with async events (Kafka)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cross-service communication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028"/>
          </a:solidFill>
          <a:ln w="12700">
            <a:solidFill>
              <a:srgbClr val="0710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Phase 02 Examples  |  AI-Augmented SDLC Framework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1371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0B981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64592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" y="166420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coding with intelligent pair programming, auto-completion, and code generation.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2423160"/>
            <a:ext cx="2606040" cy="27432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42032"/>
            <a:ext cx="2697480" cy="256032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25420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</a:rPr>
              <a:t>⚡ AI IMPACT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" y="2834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report 35–55% productivity gains with AI-assisted coding on routine and boilerplate tasks.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</a:rPr>
              <a:t>KEY ACTIVITIES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502920"/>
            <a:ext cx="54864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502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development &amp; implementation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91840" y="978408"/>
            <a:ext cx="54864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9784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 programming sessions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1453896"/>
            <a:ext cx="54864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4538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refactoring &amp; optimization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91840" y="1929384"/>
            <a:ext cx="54864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19293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library development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89320" y="182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</a:rPr>
              <a:t>TOOLS &amp; AI INTEGRATIONS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9320" y="50292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9320" y="502920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566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73568" y="594360"/>
            <a:ext cx="868680" cy="201168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5943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0B981"/>
                </a:solidFill>
              </a:rPr>
              <a:t>AI CODING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126480" y="841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completion, function gen, docstring writing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0" y="1252728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1252728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316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(Anthropic)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73568" y="1344168"/>
            <a:ext cx="868680" cy="201168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73568" y="13441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0B981"/>
                </a:solidFill>
              </a:rPr>
              <a:t>AI ASSISTANT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126480" y="1591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Debugging, code review, complex logic, refactoring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89320" y="2002536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89320" y="2002536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066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 IDE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973568" y="2093976"/>
            <a:ext cx="868680" cy="201168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73568" y="20939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0B981"/>
                </a:solidFill>
              </a:rPr>
              <a:t>AI IDE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126480" y="2340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Codebase-aware AI with multi-file editing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89320" y="2752344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89320" y="2752344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816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 + Extensions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973568" y="2843784"/>
            <a:ext cx="868680" cy="201168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73568" y="284378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0B981"/>
                </a:solidFill>
              </a:rPr>
              <a:t>IDE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126480" y="3090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development environment, linting, formatting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89320" y="3502152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89320" y="3502152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973568" y="3593592"/>
            <a:ext cx="868680" cy="201168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73568" y="35935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0B981"/>
                </a:solidFill>
              </a:rPr>
              <a:t>CONTAINERS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126480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dev environments, service isolation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Phase 03 of 06  |  AI-Augmented SDLC Framework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2057"/>
          </a:solidFill>
          <a:ln w="12700">
            <a:solidFill>
              <a:srgbClr val="112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37160"/>
            <a:ext cx="347472" cy="347472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37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" y="1371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 —  Examples in Action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" y="47548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prompts &amp; AI outputs your team can use today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" y="822960"/>
            <a:ext cx="4206240" cy="4114800"/>
          </a:xfrm>
          <a:prstGeom prst="rect">
            <a:avLst/>
          </a:prstGeom>
          <a:solidFill>
            <a:srgbClr val="112057"/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1568" y="914400"/>
            <a:ext cx="914400" cy="22860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0B981"/>
                </a:solidFill>
              </a:rPr>
              <a:t>CLAUDE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8328" y="9326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 Root-Cause from Stack Trace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" y="1298448"/>
            <a:ext cx="50292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12984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8BDF8"/>
                </a:solidFill>
              </a:rPr>
              <a:t>INPUT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8328" y="1499616"/>
            <a:ext cx="393192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536192"/>
            <a:ext cx="3749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cryptic error to Claude: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"TypeError: Cannot read properties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undefined (reading 'price')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checkout.js:142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processCart()"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67128" y="24414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" y="2642616"/>
            <a:ext cx="594360" cy="18288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642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0B981"/>
                </a:solidFill>
              </a:rPr>
              <a:t>AI OUTPUT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38328" y="2843784"/>
            <a:ext cx="3931920" cy="1984248"/>
          </a:xfrm>
          <a:prstGeom prst="rect">
            <a:avLst/>
          </a:prstGeom>
          <a:solidFill>
            <a:srgbClr val="071028"/>
          </a:solidFill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898648"/>
            <a:ext cx="3749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Root cause identified: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 item object returned by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getCartItems() can be null when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is deleted mid-session.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142 doesn't null-check before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item.price.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optional chaining: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const price = item?.price ?? 0;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add: cart refresh on 404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from product API.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73168" y="822960"/>
            <a:ext cx="4206240" cy="4114800"/>
          </a:xfrm>
          <a:prstGeom prst="rect">
            <a:avLst/>
          </a:prstGeom>
          <a:solidFill>
            <a:srgbClr val="112057"/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73568" y="914400"/>
            <a:ext cx="914400" cy="22860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3568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0B981"/>
                </a:solidFill>
              </a:rPr>
              <a:t>CURSOR IDE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10328" y="9326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Refactor to Repository Pattern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10328" y="1298448"/>
            <a:ext cx="50292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12984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8BDF8"/>
                </a:solidFill>
              </a:rPr>
              <a:t>INPUT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910328" y="1499616"/>
            <a:ext cx="393192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1536192"/>
            <a:ext cx="3749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 Cursor: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"Refactor this 280-line UserController into the repository pattern. Keep tests green."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39128" y="24414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▼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10328" y="2642616"/>
            <a:ext cx="594360" cy="18288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2642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0B981"/>
                </a:solidFill>
              </a:rPr>
              <a:t>AI OUTPUT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10328" y="2843784"/>
            <a:ext cx="3931920" cy="1984248"/>
          </a:xfrm>
          <a:prstGeom prst="rect">
            <a:avLst/>
          </a:prstGeom>
          <a:solidFill>
            <a:srgbClr val="071028"/>
          </a:solidFill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2898648"/>
            <a:ext cx="3749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 files created/updated: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UserRepository.js  (data layer)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UserService.js     (business logic)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UserController.js  (slim, 45 lines)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UserRepository.test.js (new tests)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23 existing tests still passing.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Cyclomatic complexity: 18 → 6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coverage: 71% → 89%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028"/>
          </a:solidFill>
          <a:ln w="12700">
            <a:solidFill>
              <a:srgbClr val="0710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Phase 03 Examples  |  AI-Augmented SDLC Framework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1371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97316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64592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QA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" y="166420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test cases, automated regression testing, and intelligent bug triage at scale.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2423160"/>
            <a:ext cx="2606040" cy="27432"/>
          </a:xfrm>
          <a:prstGeom prst="rect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42032"/>
            <a:ext cx="2697480" cy="256032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25420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97316"/>
                </a:solidFill>
              </a:rPr>
              <a:t>⚡ AI IMPACT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" y="2834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test coverage boilerplate 70% faster and surfaces edge cases humans routinely miss.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</a:rPr>
              <a:t>KEY ACTIVITIES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502920"/>
            <a:ext cx="54864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502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 authoring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91840" y="978408"/>
            <a:ext cx="54864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9784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 automation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1453896"/>
            <a:ext cx="54864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4538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load testing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91840" y="1929384"/>
            <a:ext cx="54864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19293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vulnerability scanning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89320" y="182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</a:rPr>
              <a:t>TOOLS &amp; AI INTEGRATIONS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9320" y="50292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9320" y="502920"/>
            <a:ext cx="54864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566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(Anthropic)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73568" y="594360"/>
            <a:ext cx="868680" cy="201168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5943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97316"/>
                </a:solidFill>
              </a:rPr>
              <a:t>AI ASSISTANT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126480" y="841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generation, edge-case discovery, bug RCA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0" y="1252728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1252728"/>
            <a:ext cx="54864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316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73568" y="1344168"/>
            <a:ext cx="868680" cy="201168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73568" y="13441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97316"/>
                </a:solidFill>
              </a:rPr>
              <a:t>AI CODING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126480" y="1591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unit tests from function signatures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89320" y="2002536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89320" y="2002536"/>
            <a:ext cx="54864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066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973568" y="2093976"/>
            <a:ext cx="868680" cy="201168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73568" y="20939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97316"/>
                </a:solidFill>
              </a:rPr>
              <a:t>E2E TESTING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126480" y="2340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automation, UI regression testing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89320" y="2752344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89320" y="2752344"/>
            <a:ext cx="54864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816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Jest / Vitest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973568" y="2843784"/>
            <a:ext cx="868680" cy="201168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73568" y="284378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97316"/>
                </a:solidFill>
              </a:rPr>
              <a:t>TESTING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126480" y="3090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 runner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89320" y="3502152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89320" y="3502152"/>
            <a:ext cx="54864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Snyk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973568" y="3593592"/>
            <a:ext cx="868680" cy="201168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73568" y="35935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97316"/>
                </a:solidFill>
              </a:rPr>
              <a:t>SECURITY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126480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vulnerability detection in dependencies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Phase 04 of 06  |  AI-Augmented SDLC Framework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2057"/>
          </a:solidFill>
          <a:ln w="12700">
            <a:solidFill>
              <a:srgbClr val="112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37160"/>
            <a:ext cx="347472" cy="347472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37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" y="1371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QA  —  Examples in Action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" y="47548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prompts &amp; AI outputs your team can use today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" y="822960"/>
            <a:ext cx="4206240" cy="4114800"/>
          </a:xfrm>
          <a:prstGeom prst="rect">
            <a:avLst/>
          </a:prstGeom>
          <a:solidFill>
            <a:srgbClr val="112057"/>
          </a:solidFill>
          <a:ln w="12700">
            <a:solidFill>
              <a:srgbClr val="F9731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1568" y="914400"/>
            <a:ext cx="914400" cy="228600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97316"/>
                </a:solidFill>
              </a:rPr>
              <a:t>COPILOT + CLAUDE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8328" y="9326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 Generation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" y="1298448"/>
            <a:ext cx="50292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12984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8BDF8"/>
                </a:solidFill>
              </a:rPr>
              <a:t>INPUT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8328" y="1499616"/>
            <a:ext cx="393192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536192"/>
            <a:ext cx="3749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function signature to AI: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processPayment(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amount, currency, cardToken,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idempotencyKey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{ ... 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67128" y="24414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" y="2642616"/>
            <a:ext cx="594360" cy="182880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642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97316"/>
                </a:solidFill>
              </a:rPr>
              <a:t>AI OUTPUT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38328" y="2843784"/>
            <a:ext cx="3931920" cy="1984248"/>
          </a:xfrm>
          <a:prstGeom prst="rect">
            <a:avLst/>
          </a:prstGeom>
          <a:solidFill>
            <a:srgbClr val="071028"/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898648"/>
            <a:ext cx="3749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14 tests generated in Jest: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Happy path (USD, valid card)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Declined card → PaymentError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timeout → retry logic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 idempotency key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amount → validation error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Negative amount → rejection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Unsupported currency code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Expired card token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 required fields (x4)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Amount &gt; account limit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Concurrent duplicate requests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73168" y="822960"/>
            <a:ext cx="4206240" cy="4114800"/>
          </a:xfrm>
          <a:prstGeom prst="rect">
            <a:avLst/>
          </a:prstGeom>
          <a:solidFill>
            <a:srgbClr val="112057"/>
          </a:solidFill>
          <a:ln w="12700">
            <a:solidFill>
              <a:srgbClr val="F9731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73568" y="914400"/>
            <a:ext cx="914400" cy="228600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3568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97316"/>
                </a:solidFill>
              </a:rPr>
              <a:t>CLAUDE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10328" y="9326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E2E Checkout Test (Playwright)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10328" y="1298448"/>
            <a:ext cx="50292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12984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8BDF8"/>
                </a:solidFill>
              </a:rPr>
              <a:t>INPUT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910328" y="1499616"/>
            <a:ext cx="393192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1536192"/>
            <a:ext cx="3749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Playwright test for the full checkout: login → add item → pay → confirm order."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39128" y="24414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▼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10328" y="2642616"/>
            <a:ext cx="594360" cy="182880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2642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97316"/>
                </a:solidFill>
              </a:rPr>
              <a:t>AI OUTPUT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10328" y="2843784"/>
            <a:ext cx="3931920" cy="1984248"/>
          </a:xfrm>
          <a:prstGeom prst="rect">
            <a:avLst/>
          </a:prstGeom>
          <a:solidFill>
            <a:srgbClr val="071028"/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2898648"/>
            <a:ext cx="3749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 test script generated: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test('checkout flow', async ({page}) =&gt; {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await page.goto('/login');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await page.fill('#email', user);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await page.fill('#pass', pass);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await page.click('#login-btn');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await page.click('#add-to-cart');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await page.click('#checkout');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await page.fill('#card', '4242...');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await page.click('#pay-now');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await expect(page).toHaveURL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('/order-confirmation');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});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028"/>
          </a:solidFill>
          <a:ln w="12700">
            <a:solidFill>
              <a:srgbClr val="0710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Phase 04 Examples  |  AI-Augmented SDLC Framework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1371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F4444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64592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CI/CD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" y="166420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pipelines with AI-assisted config generation, IaC authoring, and anomaly detection.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2423160"/>
            <a:ext cx="2606040" cy="27432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42032"/>
            <a:ext cx="2697480" cy="256032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25420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F4444"/>
                </a:solidFill>
              </a:rPr>
              <a:t>⚡ AI IMPACT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" y="2834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IaC templates reduce misconfiguration errors by ~50% and cut pipeline setup time in half.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</a:rPr>
              <a:t>KEY ACTIVITIES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502920"/>
            <a:ext cx="54864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502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configuration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91840" y="978408"/>
            <a:ext cx="54864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9784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(IaC)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1453896"/>
            <a:ext cx="54864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4538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management &amp; feature flags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91840" y="1929384"/>
            <a:ext cx="54864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19293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rollback strategies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89320" y="182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</a:rPr>
              <a:t>TOOLS &amp; AI INTEGRATIONS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9320" y="50292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9320" y="502920"/>
            <a:ext cx="54864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566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(Anthropic)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73568" y="594360"/>
            <a:ext cx="868680" cy="201168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5943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F4444"/>
                </a:solidFill>
              </a:rPr>
              <a:t>AI ASSISTANT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126480" y="841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&amp; pipeline YAML generation, IaC review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0" y="1252728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1252728"/>
            <a:ext cx="54864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316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73568" y="1344168"/>
            <a:ext cx="868680" cy="201168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73568" y="13441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F4444"/>
                </a:solidFill>
              </a:rPr>
              <a:t>CI/CD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126480" y="1591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build, test, and deployment pipelines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89320" y="2002536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89320" y="2002536"/>
            <a:ext cx="54864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066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Terraform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973568" y="2093976"/>
            <a:ext cx="868680" cy="201168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73568" y="20939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F4444"/>
                </a:solidFill>
              </a:rPr>
              <a:t>IAC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126480" y="2340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provisioning and state management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89320" y="2752344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89320" y="2752344"/>
            <a:ext cx="54864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816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/ GCP / Azure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973568" y="2843784"/>
            <a:ext cx="868680" cy="201168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73568" y="284378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F4444"/>
                </a:solidFill>
              </a:rPr>
              <a:t>CLOUD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126480" y="3090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managed services, auto-scaling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89320" y="3502152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89320" y="3502152"/>
            <a:ext cx="54864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LaunchDarkly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973568" y="3593592"/>
            <a:ext cx="868680" cy="201168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73568" y="35935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F4444"/>
                </a:solidFill>
              </a:rPr>
              <a:t>FEATURE FLAGS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126480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rollouts, A/B testing, kill switches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Phase 05 of 06  |  AI-Augmented SDLC Framework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2057"/>
          </a:solidFill>
          <a:ln w="12700">
            <a:solidFill>
              <a:srgbClr val="112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37160"/>
            <a:ext cx="347472" cy="347472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37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" y="1371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&amp; CI/CD  —  Examples in Action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" y="47548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prompts &amp; AI outputs your team can use today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" y="822960"/>
            <a:ext cx="4206240" cy="4114800"/>
          </a:xfrm>
          <a:prstGeom prst="rect">
            <a:avLst/>
          </a:prstGeom>
          <a:solidFill>
            <a:srgbClr val="112057"/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1568" y="914400"/>
            <a:ext cx="914400" cy="22860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EF4444"/>
                </a:solidFill>
              </a:rPr>
              <a:t>CLAUDE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8328" y="9326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 Pipeline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" y="1298448"/>
            <a:ext cx="50292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12984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8BDF8"/>
                </a:solidFill>
              </a:rPr>
              <a:t>INPUT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8328" y="1499616"/>
            <a:ext cx="393192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536192"/>
            <a:ext cx="3749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a GitHub Actions workflow to deploy a Node.js app to AWS ECS with staging gate and Slack notification."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67128" y="24414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" y="2642616"/>
            <a:ext cx="594360" cy="18288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642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EF4444"/>
                </a:solidFill>
              </a:rPr>
              <a:t>AI OUTPUT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38328" y="2843784"/>
            <a:ext cx="3931920" cy="1984248"/>
          </a:xfrm>
          <a:prstGeom prst="rect">
            <a:avLst/>
          </a:prstGeom>
          <a:solidFill>
            <a:srgbClr val="071028"/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898648"/>
            <a:ext cx="3749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deploy.yml generated (68 lines):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Trigger: push to main branch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 1: npm install + Jest tests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 2: Docker build + ECR push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 3: Deploy to ECS (staging)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manual approval required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 4: Deploy to ECS (prod)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 failure: auto-rollback task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Notify: Slack #deployments channel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env secrets handling +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tag-based versioning strategy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73168" y="822960"/>
            <a:ext cx="4206240" cy="4114800"/>
          </a:xfrm>
          <a:prstGeom prst="rect">
            <a:avLst/>
          </a:prstGeom>
          <a:solidFill>
            <a:srgbClr val="112057"/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73568" y="914400"/>
            <a:ext cx="914400" cy="22860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3568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EF4444"/>
                </a:solidFill>
              </a:rPr>
              <a:t>CLAUDE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10328" y="9326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Terraform Multi-AZ RDS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10328" y="1298448"/>
            <a:ext cx="50292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12984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8BDF8"/>
                </a:solidFill>
              </a:rPr>
              <a:t>INPUT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910328" y="1499616"/>
            <a:ext cx="393192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1536192"/>
            <a:ext cx="3749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Terraform for a production Postgres RDS instance: multi-AZ, read replica, automated backups, encrypted."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39128" y="24414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▼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10328" y="2642616"/>
            <a:ext cx="594360" cy="18288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2642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EF4444"/>
                </a:solidFill>
              </a:rPr>
              <a:t>AI OUTPUT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10328" y="2843784"/>
            <a:ext cx="3931920" cy="1984248"/>
          </a:xfrm>
          <a:prstGeom prst="rect">
            <a:avLst/>
          </a:prstGeom>
          <a:solidFill>
            <a:srgbClr val="071028"/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2898648"/>
            <a:ext cx="3749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main.tf generated: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"aws_db_instance" "prod" {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engine         = "postgres"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instance_class = "db.r6g.large"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multi_az       = true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storage_encrypted = true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backup_retention = 7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deletion_protection = true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"aws_db_instance" "replica"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replicate_source_db = ...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security groups, param groups,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subnet groups, CloudWatch alarms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028"/>
          </a:solidFill>
          <a:ln w="12700">
            <a:solidFill>
              <a:srgbClr val="0710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Phase 05 Examples  |  AI-Augmented SDLC Framework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1371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C4899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64592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Operations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" y="166420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observability, AI-driven incident response, and continuous feedback loops.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2423160"/>
            <a:ext cx="2606040" cy="27432"/>
          </a:xfrm>
          <a:prstGeom prst="rect">
            <a:avLst/>
          </a:prstGeom>
          <a:solidFill>
            <a:srgbClr val="EC4899">
              <a:alpha val="40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42032"/>
            <a:ext cx="2697480" cy="256032"/>
          </a:xfrm>
          <a:prstGeom prst="rect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25420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C4899"/>
                </a:solidFill>
              </a:rPr>
              <a:t>⚡ AI IMPACT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" y="2834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anomaly detection reduces mean time to detect (MTTD) by up to 60% vs. manual monitoring.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</a:rPr>
              <a:t>KEY ACTIVITIES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502920"/>
            <a:ext cx="54864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5029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performance monitoring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91840" y="978408"/>
            <a:ext cx="54864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9784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incident triage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1453896"/>
            <a:ext cx="54864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4538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analysis &amp; anomaly detection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91840" y="1929384"/>
            <a:ext cx="54864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19293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Retrospectives &amp; continuous improvement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89320" y="182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</a:rPr>
              <a:t>TOOLS &amp; AI INTEGRATIONS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9320" y="50292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9320" y="502920"/>
            <a:ext cx="54864" cy="640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566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(Anthropic)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73568" y="594360"/>
            <a:ext cx="868680" cy="201168"/>
          </a:xfrm>
          <a:prstGeom prst="rect">
            <a:avLst/>
          </a:prstGeom>
          <a:solidFill>
            <a:srgbClr val="EC4899">
              <a:alpha val="18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5943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C4899"/>
                </a:solidFill>
              </a:rPr>
              <a:t>AI ASSISTANT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126480" y="841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analysis, post-mortems, runbook authoring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0" y="1252728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1252728"/>
            <a:ext cx="54864" cy="640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316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Datadog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73568" y="1344168"/>
            <a:ext cx="868680" cy="201168"/>
          </a:xfrm>
          <a:prstGeom prst="rect">
            <a:avLst/>
          </a:prstGeom>
          <a:solidFill>
            <a:srgbClr val="EC4899">
              <a:alpha val="18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73568" y="13441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C4899"/>
                </a:solidFill>
              </a:rPr>
              <a:t>OBSERVABILITY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126480" y="1591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traces, logs with AI anomaly detection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89320" y="2002536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89320" y="2002536"/>
            <a:ext cx="54864" cy="640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066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PagerDuty AI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973568" y="2093976"/>
            <a:ext cx="868680" cy="201168"/>
          </a:xfrm>
          <a:prstGeom prst="rect">
            <a:avLst/>
          </a:prstGeom>
          <a:solidFill>
            <a:srgbClr val="EC4899">
              <a:alpha val="18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73568" y="20939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C4899"/>
                </a:solidFill>
              </a:rPr>
              <a:t>INCIDENT MGMT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126480" y="2340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management, intelligent alert triage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89320" y="2752344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89320" y="2752344"/>
            <a:ext cx="54864" cy="640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816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Sentry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973568" y="2843784"/>
            <a:ext cx="868680" cy="201168"/>
          </a:xfrm>
          <a:prstGeom prst="rect">
            <a:avLst/>
          </a:prstGeom>
          <a:solidFill>
            <a:srgbClr val="EC4899">
              <a:alpha val="18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73568" y="284378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C4899"/>
                </a:solidFill>
              </a:rPr>
              <a:t>ERROR TRACKING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126480" y="3090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Frontend/backend error capture and grouping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89320" y="3502152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89320" y="3502152"/>
            <a:ext cx="54864" cy="640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973568" y="3593592"/>
            <a:ext cx="868680" cy="201168"/>
          </a:xfrm>
          <a:prstGeom prst="rect">
            <a:avLst/>
          </a:prstGeom>
          <a:solidFill>
            <a:srgbClr val="EC4899">
              <a:alpha val="18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73568" y="35935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EC4899"/>
                </a:solidFill>
              </a:rPr>
              <a:t>DASHBOARDS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126480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metrics dashboards and alerting rules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Phase 06 of 06  |  AI-Augmented SDLC Framework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2057"/>
          </a:solidFill>
          <a:ln w="12700">
            <a:solidFill>
              <a:srgbClr val="1120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37160"/>
            <a:ext cx="347472" cy="347472"/>
          </a:xfrm>
          <a:prstGeom prst="rect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37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" y="1371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&amp; Operations  —  Examples in Action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" y="47548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prompts &amp; AI outputs your team can use today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" y="822960"/>
            <a:ext cx="4206240" cy="4114800"/>
          </a:xfrm>
          <a:prstGeom prst="rect">
            <a:avLst/>
          </a:prstGeom>
          <a:solidFill>
            <a:srgbClr val="112057"/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1568" y="914400"/>
            <a:ext cx="914400" cy="228600"/>
          </a:xfrm>
          <a:prstGeom prst="rect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EC4899"/>
                </a:solidFill>
              </a:rPr>
              <a:t>CLAUDE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8328" y="9326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 Diagnosis from Logs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" y="1298448"/>
            <a:ext cx="50292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12984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8BDF8"/>
                </a:solidFill>
              </a:rPr>
              <a:t>INPUT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8328" y="1499616"/>
            <a:ext cx="393192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536192"/>
            <a:ext cx="3749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Datadog spike + logs to Claude at 2am: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"DB connection errors spiking.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errors up 800% last 10 min.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last 50 log lines..."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67128" y="24414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4899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" y="2642616"/>
            <a:ext cx="594360" cy="182880"/>
          </a:xfrm>
          <a:prstGeom prst="rect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642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EC4899"/>
                </a:solidFill>
              </a:rPr>
              <a:t>AI OUTPUT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38328" y="2843784"/>
            <a:ext cx="3931920" cy="1984248"/>
          </a:xfrm>
          <a:prstGeom prst="rect">
            <a:avLst/>
          </a:prstGeom>
          <a:solidFill>
            <a:srgbClr val="071028"/>
          </a:solidFill>
          <a:ln w="12700">
            <a:solidFill>
              <a:srgbClr val="EC4899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898648"/>
            <a:ext cx="3749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Root cause in 30 seconds: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 exhausted.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on orders table doing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table scan (missing index).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by: new feature deployed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1:47am — uses ORDER BY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without index.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fix: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 INDEX CONCURRENTLY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idx_orders_created_at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orders(created_at);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recovery: ~3 minutes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73168" y="822960"/>
            <a:ext cx="4206240" cy="4114800"/>
          </a:xfrm>
          <a:prstGeom prst="rect">
            <a:avLst/>
          </a:prstGeom>
          <a:solidFill>
            <a:srgbClr val="112057"/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73568" y="914400"/>
            <a:ext cx="914400" cy="228600"/>
          </a:xfrm>
          <a:prstGeom prst="rect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3568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EC4899"/>
                </a:solidFill>
              </a:rPr>
              <a:t>CLAUDE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10328" y="9326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AI-Generated Post-Mortem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10328" y="1298448"/>
            <a:ext cx="50292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12984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8BDF8"/>
                </a:solidFill>
              </a:rPr>
              <a:t>INPUT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910328" y="1499616"/>
            <a:ext cx="393192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1536192"/>
            <a:ext cx="3749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incident timeline + Slack thread to Claude: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"S3 latency spike → 47 alerts → 22 min outage. Here is the full timeline..."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39128" y="24414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4899"/>
                </a:solidFill>
              </a:rPr>
              <a:t>▼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10328" y="2642616"/>
            <a:ext cx="594360" cy="182880"/>
          </a:xfrm>
          <a:prstGeom prst="rect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2642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EC4899"/>
                </a:solidFill>
              </a:rPr>
              <a:t>AI OUTPUT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10328" y="2843784"/>
            <a:ext cx="3931920" cy="1984248"/>
          </a:xfrm>
          <a:prstGeom prst="rect">
            <a:avLst/>
          </a:prstGeom>
          <a:solidFill>
            <a:srgbClr val="071028"/>
          </a:solidFill>
          <a:ln w="12700">
            <a:solidFill>
              <a:srgbClr val="EC4899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2898648"/>
            <a:ext cx="3749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Blameless post-mortem generated: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22 min, ~4,200 users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S3 us-east-1 latency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Contributing: no circuit breaker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Whys analysis included.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(8 total):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Add S3 circuit breaker [Eng, 1w]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Multi-region S3 fallback [Eng, 2w]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Synthetic monitoring for S3 [Ops]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Runbook for S3 degradation [Ops]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...+ 4 more with owners &amp; due dates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028"/>
          </a:solidFill>
          <a:ln w="12700">
            <a:solidFill>
              <a:srgbClr val="0710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Phase 06 Examples  |  AI-Augmented SDLC Framework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TOOLS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85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AI tool applies across the SDLC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201168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24128"/>
            <a:ext cx="201168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Tool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40280" y="1024128"/>
            <a:ext cx="100584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0241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024128"/>
            <a:ext cx="100584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241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Design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1024128"/>
            <a:ext cx="100584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0241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Dev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57800" y="1024128"/>
            <a:ext cx="100584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10241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63640" y="1024128"/>
            <a:ext cx="100584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0241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Deploy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69480" y="1024128"/>
            <a:ext cx="100584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0241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Monitor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1371600"/>
            <a:ext cx="201168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1371600"/>
            <a:ext cx="201168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1371600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137160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1371600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137160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51960" y="1371600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1960" y="137160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257800" y="1371600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137160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1371600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37160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269480" y="1371600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137160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28600" y="1709928"/>
            <a:ext cx="201168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1709928"/>
            <a:ext cx="201168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40280" y="1709928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40280" y="170992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46120" y="1709928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170992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251960" y="1709928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51960" y="170992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257800" y="1709928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7800" y="170992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63640" y="1709928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170992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269480" y="1709928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9480" y="170992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28600" y="2048256"/>
            <a:ext cx="201168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2048256"/>
            <a:ext cx="201168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IDE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240280" y="2048256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40280" y="2048256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246120" y="2048256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46120" y="2048256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251960" y="2048256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51960" y="2048256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257800" y="2048256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57800" y="2048256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263640" y="2048256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63640" y="2048256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7269480" y="2048256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69480" y="2048256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228600" y="2386584"/>
            <a:ext cx="201168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" y="2386584"/>
            <a:ext cx="201168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AI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240280" y="2386584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40280" y="238658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3246120" y="2386584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46120" y="238658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4251960" y="2386584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51960" y="238658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5257800" y="2386584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257800" y="238658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263640" y="2386584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63640" y="238658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269480" y="2386584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69480" y="238658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228600" y="2724912"/>
            <a:ext cx="201168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28600" y="2724912"/>
            <a:ext cx="201168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Confluence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240280" y="2724912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240280" y="2724912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3246120" y="2724912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46120" y="2724912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4251960" y="2724912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251960" y="2724912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5257800" y="2724912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257800" y="2724912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6263640" y="2724912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63640" y="2724912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7269480" y="2724912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269480" y="2724912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228600" y="3063240"/>
            <a:ext cx="201168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8600" y="3063240"/>
            <a:ext cx="201168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2240280" y="3063240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240280" y="306324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3246120" y="3063240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46120" y="306324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4251960" y="3063240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51960" y="306324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5257800" y="3063240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257800" y="306324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6263640" y="3063240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263640" y="306324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7269480" y="3063240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269480" y="306324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228600" y="3401568"/>
            <a:ext cx="201168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28600" y="3401568"/>
            <a:ext cx="201168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/ Sentry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2240280" y="3401568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240280" y="340156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3246120" y="3401568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46120" y="340156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4251960" y="3401568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251960" y="340156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5257800" y="3401568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257800" y="340156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6263640" y="3401568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263640" y="340156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7269480" y="3401568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269480" y="340156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228600" y="3739896"/>
            <a:ext cx="201168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28600" y="3739896"/>
            <a:ext cx="201168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Snyk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2240280" y="3739896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240280" y="3739896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3246120" y="3739896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246120" y="3739896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23" name="Shape 121"/>
          <p:cNvSpPr/>
          <p:nvPr/>
        </p:nvSpPr>
        <p:spPr>
          <a:xfrm>
            <a:off x="4251960" y="3739896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251960" y="3739896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25" name="Shape 123"/>
          <p:cNvSpPr/>
          <p:nvPr/>
        </p:nvSpPr>
        <p:spPr>
          <a:xfrm>
            <a:off x="5257800" y="3739896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257800" y="3739896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6263640" y="3739896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263640" y="3739896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9" name="Shape 127"/>
          <p:cNvSpPr/>
          <p:nvPr/>
        </p:nvSpPr>
        <p:spPr>
          <a:xfrm>
            <a:off x="7269480" y="3739896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269480" y="3739896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31" name="Shape 129"/>
          <p:cNvSpPr/>
          <p:nvPr/>
        </p:nvSpPr>
        <p:spPr>
          <a:xfrm>
            <a:off x="228600" y="4078224"/>
            <a:ext cx="201168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28600" y="4078224"/>
            <a:ext cx="201168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2240280" y="4078224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240280" y="407822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35" name="Shape 133"/>
          <p:cNvSpPr/>
          <p:nvPr/>
        </p:nvSpPr>
        <p:spPr>
          <a:xfrm>
            <a:off x="3246120" y="4078224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246120" y="407822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7" name="Shape 135"/>
          <p:cNvSpPr/>
          <p:nvPr/>
        </p:nvSpPr>
        <p:spPr>
          <a:xfrm>
            <a:off x="4251960" y="4078224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251960" y="407822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39" name="Shape 137"/>
          <p:cNvSpPr/>
          <p:nvPr/>
        </p:nvSpPr>
        <p:spPr>
          <a:xfrm>
            <a:off x="5257800" y="4078224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257800" y="407822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41" name="Shape 139"/>
          <p:cNvSpPr/>
          <p:nvPr/>
        </p:nvSpPr>
        <p:spPr>
          <a:xfrm>
            <a:off x="6263640" y="4078224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263640" y="407822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43" name="Shape 141"/>
          <p:cNvSpPr/>
          <p:nvPr/>
        </p:nvSpPr>
        <p:spPr>
          <a:xfrm>
            <a:off x="7269480" y="4078224"/>
            <a:ext cx="1005840" cy="338328"/>
          </a:xfrm>
          <a:prstGeom prst="rect">
            <a:avLst/>
          </a:prstGeom>
          <a:solidFill>
            <a:srgbClr val="11205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269480" y="407822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45" name="Shape 143"/>
          <p:cNvSpPr/>
          <p:nvPr/>
        </p:nvSpPr>
        <p:spPr>
          <a:xfrm>
            <a:off x="228600" y="4416552"/>
            <a:ext cx="201168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28600" y="4416552"/>
            <a:ext cx="201168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AI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2240280" y="4416552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240280" y="4416552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49" name="Shape 147"/>
          <p:cNvSpPr/>
          <p:nvPr/>
        </p:nvSpPr>
        <p:spPr>
          <a:xfrm>
            <a:off x="3246120" y="4416552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3246120" y="4416552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51" name="Shape 149"/>
          <p:cNvSpPr/>
          <p:nvPr/>
        </p:nvSpPr>
        <p:spPr>
          <a:xfrm>
            <a:off x="4251960" y="4416552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4251960" y="4416552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53" name="Shape 151"/>
          <p:cNvSpPr/>
          <p:nvPr/>
        </p:nvSpPr>
        <p:spPr>
          <a:xfrm>
            <a:off x="5257800" y="4416552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5257800" y="4416552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55" name="Shape 153"/>
          <p:cNvSpPr/>
          <p:nvPr/>
        </p:nvSpPr>
        <p:spPr>
          <a:xfrm>
            <a:off x="6263640" y="4416552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263640" y="4416552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57" name="Shape 155"/>
          <p:cNvSpPr/>
          <p:nvPr/>
        </p:nvSpPr>
        <p:spPr>
          <a:xfrm>
            <a:off x="7269480" y="4416552"/>
            <a:ext cx="1005840" cy="338328"/>
          </a:xfrm>
          <a:prstGeom prst="rect">
            <a:avLst/>
          </a:prstGeom>
          <a:solidFill>
            <a:srgbClr val="0B1437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7269480" y="4416552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EA5E9">
              <a:alpha val="7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Measurable AI Impact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productivity and quality gains across the AI-SDLC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14800" cy="1417320"/>
          </a:xfrm>
          <a:prstGeom prst="rect">
            <a:avLst/>
          </a:prstGeom>
          <a:solidFill>
            <a:srgbClr val="112057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73152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25296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874520" y="129844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requirements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(Planning)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4114800" cy="1417320"/>
          </a:xfrm>
          <a:prstGeom prst="rect">
            <a:avLst/>
          </a:prstGeom>
          <a:solidFill>
            <a:srgbClr val="112057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15568"/>
            <a:ext cx="73152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25296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263640" y="129844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productivity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(Development)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761488"/>
            <a:ext cx="4114800" cy="1417320"/>
          </a:xfrm>
          <a:prstGeom prst="rect">
            <a:avLst/>
          </a:prstGeom>
          <a:solidFill>
            <a:srgbClr val="11205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61488"/>
            <a:ext cx="73152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71216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874520" y="29443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test case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(Testing)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761488"/>
            <a:ext cx="4114800" cy="1417320"/>
          </a:xfrm>
          <a:prstGeom prst="rect">
            <a:avLst/>
          </a:prstGeom>
          <a:solidFill>
            <a:srgbClr val="112057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761488"/>
            <a:ext cx="73152" cy="1417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71216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263640" y="29443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MTTD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(Monitoring)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38BDF8"/>
                </a:solidFill>
              </a:rPr>
              <a:t>The AI-SDLC is not the future — it is the competitive standard today.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AI-Augmented SDLC</dc:title>
  <dc:subject>PptxGenJS Presentation</dc:subject>
  <dc:creator>SDLC AI Process</dc:creator>
  <cp:lastModifiedBy>SDLC AI Process</cp:lastModifiedBy>
  <cp:revision>1</cp:revision>
  <dcterms:created xsi:type="dcterms:W3CDTF">2026-04-06T07:30:50Z</dcterms:created>
  <dcterms:modified xsi:type="dcterms:W3CDTF">2026-04-06T07:30:50Z</dcterms:modified>
</cp:coreProperties>
</file>